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charts/chart1.xml" ContentType="application/vnd.openxmlformats-officedocument.drawingml.chart+xml"/>
  <Override PartName="/ppt/charts/chart2.xml" ContentType="application/vnd.openxmlformats-officedocument.drawingml.chart+xml"/>
  <Override PartName="/ppt/slideMasters/slideMaster9.xml" ContentType="application/vnd.openxmlformats-officedocument.presentationml.slideMaster+xml"/>
  <Override PartName="/ppt/slides/slide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Lst>
  <p:notesMasterIdLst>
    <p:notesMasterId r:id="rId1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itch" id="{0f1aa51f-6c34-dec3-81d8-dd0b9113385d}">
          <p14:sldIdLst>
            <p14:sldId id="256"/>
            <p14:sldId id="257"/>
            <p14:sldId id="258"/>
            <p14:sldId id="259"/>
            <p14:sldId id="260"/>
            <p14:sldId id="261"/>
            <p14:sldId id="262"/>
            <p14:sldId id="263"/>
            <p14:sldId id="264"/>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notesMaster" Target="notesMasters/notesMaster1.xml"/><Relationship Id="rId12" Type="http://schemas.openxmlformats.org/officeDocument/2006/relationships/presProps" Target="presProps.xml"/><Relationship Id="rId13" Type="http://schemas.openxmlformats.org/officeDocument/2006/relationships/viewProps" Target="viewProps.xml"/><Relationship Id="rId14" Type="http://schemas.openxmlformats.org/officeDocument/2006/relationships/theme" Target="theme/theme1.xml"/><Relationship Id="rId15"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B"/>
                </a:solidFill>
                <a:latin typeface="+mn-lt"/>
              </a:defRPr>
            </a:pPr>
            <a:r>
              <a:rPr sz="1400" b="0" i="0" u="none" strike="noStrike">
                <a:solidFill>
                  <a:srgbClr val="16212B"/>
                </a:solidFill>
                <a:latin typeface="+mn-lt"/>
              </a:rPr>
              <a:t>All 252 projections, 512 tokens, 32-bit (ms)</a:t>
            </a:r>
          </a:p>
        </c:rich>
      </c:tx>
      <c:layout/>
      <c:overlay val="0"/>
    </c:title>
    <c:autoTitleDeleted val="0"/>
    <c:plotArea>
      <c:layout/>
      <c:barChart>
        <c:barDir val="col"/>
        <c:grouping val="clustered"/>
        <c:varyColors val="0"/>
        <c:ser>
          <c:idx val="0"/>
          <c:order val="0"/>
          <c:tx>
            <c:strRef>
              <c:f>Sheet1!$B$1</c:f>
              <c:strCache>
                <c:ptCount val="1"/>
                <c:pt idx="0">
                  <c:v>ms</c:v>
                </c:pt>
              </c:strCache>
            </c:strRef>
          </c:tx>
          <c:spPr>
            <a:solidFill>
              <a:srgbClr val="0B8F6A"/>
            </a:solidFill>
            <a:effectLst/>
          </c:spPr>
          <c:invertIfNegative val="0"/>
          <c:dLbls>
            <c:numFmt formatCode="0.0" sourceLinked="0"/>
            <c:txPr>
              <a:bodyPr/>
              <a:lstStyle/>
              <a:p>
                <a:pPr>
                  <a:defRPr b="0" i="0" strike="noStrike" sz="1400" u="none">
                    <a:solidFill>
                      <a:srgbClr val="16212B"/>
                    </a:solidFill>
                    <a:latin typeface="+mn-lt"/>
                  </a:defRPr>
                </a:pPr>
              </a:p>
            </c:txPr>
            <c:showLegendKey val="0"/>
            <c:showVal val="1"/>
            <c:showCatName val="0"/>
            <c:showSerName val="0"/>
            <c:showPercent val="0"/>
            <c:showBubbleSize val="0"/>
            <c:showLeaderLines val="0"/>
          </c:dLbls>
          <c:cat>
            <c:multiLvlStrRef>
              <c:f>Sheet1!$A$2:$A$4</c:f>
              <c:multiLvlStrCache>
                <c:ptCount val="3"/>
                <c:lvl>
                  <c:pt idx="0">
                    <c:v>Our kernel, untuned</c:v>
                  </c:pt>
                  <c:pt idx="1">
                    <c:v>Tuned by the loop</c:v>
                  </c:pt>
                  <c:pt idx="2">
                    <c:v>AWS compiler</c:v>
                  </c:pt>
                </c:lvl>
              </c:multiLvlStrCache>
            </c:multiLvlStrRef>
          </c:cat>
          <c:val>
            <c:numRef>
              <c:f>Sheet1!$B$2:$B$4</c:f>
              <c:numCache>
                <c:formatCode>General</c:formatCode>
                <c:ptCount val="3"/>
                <c:pt idx="0">
                  <c:v>434.1</c:v>
                </c:pt>
                <c:pt idx="1">
                  <c:v>370.9</c:v>
                </c:pt>
                <c:pt idx="2">
                  <c:v>372.6</c:v>
                </c:pt>
              </c:numCache>
            </c:numRef>
          </c:val>
        </c:ser>
        <c:dLbls>
          <c:numFmt formatCode="0.0" sourceLinked="0"/>
          <c:txPr>
            <a:bodyPr/>
            <a:lstStyle/>
            <a:p>
              <a:pPr>
                <a:defRPr b="0" i="0" strike="noStrike" sz="1400" u="none">
                  <a:solidFill>
                    <a:srgbClr val="1621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D4B57"/>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DE3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D4B5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16212B"/>
                </a:solidFill>
                <a:latin typeface="+mn-lt"/>
              </a:defRPr>
            </a:pPr>
            <a:r>
              <a:rPr sz="1400" b="0" i="0" u="none" strike="noStrike">
                <a:solidFill>
                  <a:srgbClr val="16212B"/>
                </a:solidFill>
                <a:latin typeface="+mn-lt"/>
              </a:rPr>
              <a:t>One feed-forward block, 16-bit, inference time (ms)</a:t>
            </a:r>
          </a:p>
        </c:rich>
      </c:tx>
      <c:layout/>
      <c:overlay val="0"/>
    </c:title>
    <c:autoTitleDeleted val="0"/>
    <c:plotArea>
      <c:layout/>
      <c:barChart>
        <c:barDir val="col"/>
        <c:grouping val="clustered"/>
        <c:varyColors val="0"/>
        <c:ser>
          <c:idx val="0"/>
          <c:order val="0"/>
          <c:tx>
            <c:strRef>
              <c:f>Sheet1!$B$1</c:f>
              <c:strCache>
                <c:ptCount val="1"/>
                <c:pt idx="0">
                  <c:v>ms</c:v>
                </c:pt>
              </c:strCache>
            </c:strRef>
          </c:tx>
          <c:spPr>
            <a:solidFill>
              <a:srgbClr val="0B8F6A"/>
            </a:solidFill>
            <a:effectLst/>
          </c:spPr>
          <c:invertIfNegative val="0"/>
          <c:dLbls>
            <c:numFmt formatCode="0.00" sourceLinked="0"/>
            <c:txPr>
              <a:bodyPr/>
              <a:lstStyle/>
              <a:p>
                <a:pPr>
                  <a:defRPr b="0" i="0" strike="noStrike" sz="1400" u="none">
                    <a:solidFill>
                      <a:srgbClr val="16212B"/>
                    </a:solidFill>
                    <a:latin typeface="+mn-lt"/>
                  </a:defRPr>
                </a:pPr>
              </a:p>
            </c:txPr>
            <c:showLegendKey val="0"/>
            <c:showVal val="1"/>
            <c:showCatName val="0"/>
            <c:showSerName val="0"/>
            <c:showPercent val="0"/>
            <c:showBubbleSize val="0"/>
            <c:showLeaderLines val="0"/>
          </c:dLbls>
          <c:cat>
            <c:multiLvlStrRef>
              <c:f>Sheet1!$A$2:$A$4</c:f>
              <c:multiLvlStrCache>
                <c:ptCount val="3"/>
                <c:lvl>
                  <c:pt idx="0">
                    <c:v>Our kernel, untuned</c:v>
                  </c:pt>
                  <c:pt idx="1">
                    <c:v>Tuned by the loop</c:v>
                  </c:pt>
                  <c:pt idx="2">
                    <c:v>AWS compiler</c:v>
                  </c:pt>
                </c:lvl>
              </c:multiLvlStrCache>
            </c:multiLvlStrRef>
          </c:cat>
          <c:val>
            <c:numRef>
              <c:f>Sheet1!$B$2:$B$4</c:f>
              <c:numCache>
                <c:formatCode>General</c:formatCode>
                <c:ptCount val="3"/>
                <c:pt idx="0">
                  <c:v>8.63</c:v>
                </c:pt>
                <c:pt idx="1">
                  <c:v>2.88</c:v>
                </c:pt>
                <c:pt idx="2">
                  <c:v>2.75</c:v>
                </c:pt>
              </c:numCache>
            </c:numRef>
          </c:val>
        </c:ser>
        <c:dLbls>
          <c:numFmt formatCode="0.00" sourceLinked="0"/>
          <c:txPr>
            <a:bodyPr/>
            <a:lstStyle/>
            <a:p>
              <a:pPr>
                <a:defRPr b="0" i="0" strike="noStrike" sz="1400" u="none">
                  <a:solidFill>
                    <a:srgbClr val="16212B"/>
                  </a:solidFill>
                  <a:latin typeface="+mn-lt"/>
                </a:defRPr>
              </a:pPr>
            </a:p>
          </c:txPr>
          <c:showLegendKey val="0"/>
          <c:showVal val="1"/>
          <c:showCatName val="0"/>
          <c:showSerName val="0"/>
          <c:showPercent val="0"/>
          <c:showBubbleSize val="0"/>
          <c:showLeaderLines val="0"/>
        </c:dLbls>
        <c:gapWidth val="15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300" b="0" i="0" u="none" strike="noStrike">
                <a:solidFill>
                  <a:srgbClr val="3D4B57"/>
                </a:solidFill>
                <a:latin typeface="+mn-lt"/>
              </a:defRPr>
            </a:pPr>
            <a:endParaRPr lang="en-US"/>
          </a:p>
        </c:txPr>
        <c:crossAx val="2094734552"/>
        <c:crosses val="autoZero"/>
        <c:auto val="1"/>
        <c:lblAlgn val="ctr"/>
        <c:noMultiLvlLbl val="1"/>
      </c:catAx>
      <c:valAx>
        <c:axId val="2094734552"/>
        <c:scaling>
          <c:orientation val="minMax"/>
          <c:min val="0"/>
        </c:scaling>
        <c:delete val="0"/>
        <c:axPos val="l"/>
        <c:majorGridlines>
          <c:spPr>
            <a:ln w="9525" cap="flat">
              <a:solidFill>
                <a:srgbClr val="DDE3E2"/>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100" b="0" i="0" u="none" strike="noStrike">
                <a:solidFill>
                  <a:srgbClr val="3D4B57"/>
                </a:solidFill>
                <a:latin typeface="+mn-lt"/>
              </a:defRPr>
            </a:pPr>
            <a:endParaRPr lang="en-US"/>
          </a:p>
        </c:txPr>
        <c:crossAx val="2094734554"/>
        <c:crosses val="autoZero"/>
        <c:crossBetween val="between"/>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hand-written chip kernel has settings that decide how fast it runs. Pick wrong and it is up to seven times slower, and the right answer changes with every shape and precision. We built KernelTune: a loop where two 8-billion-parameter models tune those settings, with every attempt measured on a real Trainium2 core.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a kernel can compute it has to move data from the chip's large memory into a small on-chip buffer. The three settings say how much to move per trip and how much to keep for reuse. We measured every legal setting: at the 2048 square it barely matters, at an adapter-style shape on Qwen3-8B's layer widths the worst is 7.1 times slower than the best and only 4 of 96 are good. AWS's suggested settings do not run on any of Qwen3-8B's four layer shapes at 512 tokens.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roles, as our mentor asked for. The workload is AWS's blocked matmul kernel. The checker is code that runs the kernel on the chip and first asks whether the answer is still right, then a small model reads the measurements and says what to change. The optimiser is a second small model that edits the setting. Then we measure again. The models choose three numbers; they do not write kernel code.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full picture. On the left, the loop driver on our laptop starts runs. Seat 205 serves Qwen3-8B, which plays both the checker and the optimiser. Seats 206 to 209 are the measuring checker: the blocked matmul kernel runs on a NeuronCore and neuron-explorer profiles it. Every attempt is logged, and the full sweep gives the ground truth. On the right are the side measurements: traced models against the AWS compiler default, the simulator comparison, and AWS's own recommend tool. At the bottom is what we built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time in this deck comes from AWS's own profiler. neuron-explorer capture records a hardware trace of the compiled kernel on one core, and neuron-explorer view turns it into a summary with 115 fields; we read time, how busy the tensor engine and data movement were, and bytes and transfers. NKI and the neuronx-cc compiler build and run the kernel standalone. We followed the profiling recipe from AWS's agentic skills, adapted because the pods have no torch_neuronx. We also looked at neuron-explorer recommend, AWS's Bedrock-powered advisor, in print-only mode: it sends a 155,604-character prompt and advises a person, so it is not in our loop. The pods expose no power reading, so we have no energy figures.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Version one showed the model the raw profile. It lost badly to random guessing. The checker said 'increase N to 24, that reduces data movement', the chip came back two and a half times slower, and it said it again. So we changed the message, not the model. Version two showed it comparisons worked out in code. Version three gave it a menu of moves with the measured record for each. Version four caught the second model editing a line it was not asked to touch. Version five had no wasted attempts at all.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Same model, same chip, same budget: by redesigning only what the checker says, we went from 3 good runs out of 30 to 29 out of 30. Random guessing gets 73%. Here is the part we did not expect: replace the model with a one-line rule on the same menu and it finds the best setting in 71% of runs. The 8B model manages 50%, random 38%. So the value is in the measured menu. Do not say the model beats random at finding the best: 50% against 38% is not conclusive at 30 runs.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ran the loop on every linear-layer shape in Qwen3-8B and compared it with AWS's own compiler doing the same multiply with no hand-written kernel. Untuned, a hand-written kernel is 12 to 30 percent slower than the compiler. Tuned by the loop it is level with it on every layer. Then we ran the loop at 16-bit, the precision real models use, scored on real inference time. From as slow as 8.6 milliseconds, all five runs ended at about 2.9, within 5% of the compiler at 2.75. Say 'level with the compiler', never 'faster than'.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What are we handing over? An on-chip checker this track did not have. Full ground truth at two shapes. And measured evidence of what a small-model loop needs: tell it what the chip measured, not what to think. We do not beat your compiler, and for matmul nobody needs to. The next step is to point KernelTune at the kernels people do write by hand, where there is no compiler version to fall back 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16212B"/>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rtlCol="0"/>
          <a:lstStyle>
            <a:lvl1pPr algn="l" indent="0" marL="0">
              <a:buNone/>
              <a:defRPr lang="en-US" sz="6000" b="1" dirty="0">
                <a:solidFill>
                  <a:schemeClr val="bg1"/>
                </a:solidFill>
              </a:defRPr>
            </a:lvl1pPr>
          </a:lstStyle>
          <a:p>
            <a:pPr algn="l" indent="0" marL="0">
              <a:buNone/>
            </a:pPr>
            <a:endParaRPr lang="en-US" sz="6000" dirty="0"/>
          </a:p>
        </p:txBody>
      </p:sp>
      <p:sp>
        <p:nvSpPr>
          <p:cNvPr id="3" name="Text 0"/>
          <p:cNvSpPr/>
          <p:nvPr>
            <p:ph idx="101" type="body" hasCustomPrompt="1"/>
          </p:nvPr>
        </p:nvSpPr>
        <p:spPr>
          <a:xfrm>
            <a:off x="731520" y="3474720"/>
            <a:ext cx="10698480" cy="1097280"/>
          </a:xfrm>
          <a:prstGeom prst="rect">
            <a:avLst/>
          </a:prstGeom>
          <a:noFill/>
          <a:ln/>
        </p:spPr>
        <p:txBody>
          <a:bodyPr wrap="square" rtlCol="0"/>
          <a:lstStyle>
            <a:lvl1pPr algn="l" indent="0" marL="0">
              <a:buNone/>
              <a:defRPr lang="en-US" sz="2400" dirty="0">
                <a:solidFill>
                  <a:schemeClr val="accent5"/>
                </a:solidFill>
              </a:defRPr>
            </a:lvl1pPr>
          </a:lstStyle>
          <a:p>
            <a:pPr algn="l" indent="0" marL="0">
              <a:buNone/>
            </a:pPr>
            <a:endParaRPr lang="en-US" sz="24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rtlCol="0"/>
          <a:lstStyle>
            <a:lvl1pPr algn="l" indent="0" marL="0">
              <a:buNone/>
              <a:defRPr lang="en-US" sz="3600" b="1" dirty="0">
                <a:solidFill>
                  <a:schemeClr val="tx1"/>
                </a:solidFill>
              </a:defRPr>
            </a:lvl1pPr>
          </a:lstStyle>
          <a:p>
            <a:pPr algn="l" indent="0" marL="0">
              <a:buNone/>
            </a:pPr>
            <a:endParaRPr lang="en-US" sz="3600" dirty="0"/>
          </a:p>
        </p:txBody>
      </p:sp>
      <p:sp>
        <p:nvSpPr>
          <p:cNvPr id="3" name="Text 0"/>
          <p:cNvSpPr/>
          <p:nvPr/>
        </p:nvSpPr>
        <p:spPr>
          <a:xfrm>
            <a:off x="548640" y="63550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KernelTune  ·  Team Skywalker</a:t>
            </a:r>
            <a:endParaRPr lang="en-US" sz="10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FULL_IMAGE">
    <p:bg>
      <p:bgPr>
        <a:solidFill>
          <a:srgbClr val="FFFFFF"/>
        </a:solidFill>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11064240" cy="502920"/>
          </a:xfrm>
          <a:prstGeom prst="rect">
            <a:avLst/>
          </a:prstGeom>
          <a:noFill/>
          <a:ln/>
        </p:spPr>
        <p:txBody>
          <a:bodyPr wrap="square" rtlCol="0"/>
          <a:lstStyle>
            <a:lvl1pPr algn="l" indent="0" marL="0">
              <a:buNone/>
              <a:defRPr lang="en-US" sz="2400" b="1" dirty="0">
                <a:solidFill>
                  <a:schemeClr val="tx1"/>
                </a:solidFill>
              </a:defRPr>
            </a:lvl1pPr>
          </a:lstStyle>
          <a:p>
            <a:pPr algn="l" indent="0" marL="0">
              <a:buNone/>
            </a:pPr>
            <a:endParaRPr lang="en-US" sz="2400" dirty="0"/>
          </a:p>
        </p:txBody>
      </p:sp>
      <p:sp>
        <p:nvSpPr>
          <p:cNvPr id="25" name="Slide Number Placeholder 0"/>
          <p:cNvSpPr>
            <a:spLocks noGrp="1"/>
          </p:cNvSpPr>
          <p:nvPr>
            <p:ph type="sldNum" sz="quarter" idx="4294967295"/>
          </p:nvPr>
        </p:nvSpPr>
        <p:spPr>
          <a:xfrm>
            <a:off x="1115568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4.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slideLayout" Target="../slideLayouts/slideLayou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chart" Target="/ppt/charts/chart2.xml"/><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title" hasCustomPrompt="1"/>
          </p:nvPr>
        </p:nvSpPr>
        <p:spPr>
          <a:xfrm>
            <a:off x="731520" y="2103120"/>
            <a:ext cx="10698480" cy="1188720"/>
          </a:xfrm>
          <a:prstGeom prst="rect">
            <a:avLst/>
          </a:prstGeom>
          <a:noFill/>
          <a:ln/>
        </p:spPr>
        <p:txBody>
          <a:bodyPr wrap="square" lIns="0" tIns="0" rIns="0" bIns="0" rtlCol="0" anchor="b"/>
          <a:lstStyle/>
          <a:p>
            <a:pPr algn="l" indent="0" marL="0">
              <a:buNone/>
            </a:pPr>
            <a:r>
              <a:rPr lang="en-US" sz="6000" b="1" dirty="0">
                <a:solidFill>
                  <a:schemeClr val="bg1"/>
                </a:solidFill>
              </a:rPr>
              <a:t>KernelTune</a:t>
            </a:r>
            <a:endParaRPr lang="en-US" sz="6000" dirty="0"/>
          </a:p>
        </p:txBody>
      </p:sp>
      <p:sp>
        <p:nvSpPr>
          <p:cNvPr id="3" name="Text 0"/>
          <p:cNvSpPr/>
          <p:nvPr>
            <p:ph idx="101" type="body" hasCustomPrompt="1"/>
          </p:nvPr>
        </p:nvSpPr>
        <p:spPr>
          <a:xfrm>
            <a:off x="731520" y="3474720"/>
            <a:ext cx="10698480" cy="1097280"/>
          </a:xfrm>
          <a:prstGeom prst="rect">
            <a:avLst/>
          </a:prstGeom>
          <a:noFill/>
          <a:ln/>
        </p:spPr>
        <p:txBody>
          <a:bodyPr wrap="square" lIns="0" tIns="0" rIns="0" bIns="0" rtlCol="0" anchor="t"/>
          <a:lstStyle/>
          <a:p>
            <a:pPr algn="l" indent="0" marL="0">
              <a:buNone/>
            </a:pPr>
            <a:r>
              <a:rPr lang="en-US" sz="2400" dirty="0">
                <a:solidFill>
                  <a:schemeClr val="accent5"/>
                </a:solidFill>
              </a:rPr>
              <a:t>An on-chip kernel autotuner driven by two small models</a:t>
            </a:r>
            <a:endParaRPr lang="en-US" sz="2400" dirty="0"/>
          </a:p>
        </p:txBody>
      </p:sp>
      <p:sp>
        <p:nvSpPr>
          <p:cNvPr id="4" name="Byline"/>
          <p:cNvSpPr txBox="1"/>
          <p:nvPr/>
        </p:nvSpPr>
        <p:spPr>
          <a:xfrm>
            <a:off x="731520" y="5852160"/>
            <a:ext cx="10698480" cy="365760"/>
          </a:xfrm>
          <a:prstGeom prst="rect">
            <a:avLst/>
          </a:prstGeom>
          <a:noFill/>
          <a:ln/>
        </p:spPr>
        <p:txBody>
          <a:bodyPr wrap="square" lIns="0" tIns="0" rIns="0" bIns="0" rtlCol="0" anchor="t"/>
          <a:lstStyle/>
          <a:p>
            <a:pPr indent="0" marL="0">
              <a:buNone/>
            </a:pPr>
            <a:r>
              <a:rPr lang="en-US" sz="1400" dirty="0">
                <a:solidFill>
                  <a:schemeClr val="accent5"/>
                </a:solidFill>
              </a:rPr>
              <a:t>Team Skywalker  ·  Hack the Chip, NYU × Annapurna Labs  ·  Kernel optimisation track</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A hand-written kernel is only fast if its settings are right</a:t>
            </a:r>
            <a:endParaRPr lang="en-US" sz="3600" dirty="0"/>
          </a:p>
        </p:txBody>
      </p:sp>
      <p:sp>
        <p:nvSpPr>
          <p:cNvPr id="3" name="Problem text"/>
          <p:cNvSpPr txBox="1"/>
          <p:nvPr/>
        </p:nvSpPr>
        <p:spPr>
          <a:xfrm>
            <a:off x="548640" y="1554480"/>
            <a:ext cx="4937760" cy="3291840"/>
          </a:xfrm>
          <a:prstGeom prst="rect">
            <a:avLst/>
          </a:prstGeom>
          <a:noFill/>
          <a:ln/>
        </p:spPr>
        <p:txBody>
          <a:bodyPr wrap="square" lIns="0" tIns="0" rIns="0" bIns="0" rtlCol="0" anchor="t"/>
          <a:lstStyle/>
          <a:p>
            <a:pPr indent="0" marL="0">
              <a:spcAft>
                <a:spcPts val="1200"/>
              </a:spcAft>
              <a:buNone/>
            </a:pPr>
            <a:r>
              <a:rPr lang="en-US" sz="2000" dirty="0">
                <a:solidFill>
                  <a:schemeClr val="tx1"/>
                </a:solidFill>
              </a:rPr>
              <a:t>Three settings decide how much data the kernel loads per trip and how much it keeps on the chip.</a:t>
            </a:r>
            <a:endParaRPr lang="en-US" sz="2000" dirty="0"/>
          </a:p>
          <a:p>
            <a:pPr indent="0" marL="0">
              <a:spcAft>
                <a:spcPts val="1200"/>
              </a:spcAft>
              <a:buNone/>
            </a:pPr>
            <a:r>
              <a:rPr lang="en-US" sz="2000" dirty="0">
                <a:solidFill>
                  <a:schemeClr val="tx1"/>
                </a:solidFill>
              </a:rPr>
              <a:t>The right values change with every shape and precision. There is no formula.</a:t>
            </a:r>
            <a:endParaRPr lang="en-US" sz="2000" dirty="0"/>
          </a:p>
          <a:p>
            <a:pPr indent="0" marL="0">
              <a:buNone/>
            </a:pPr>
            <a:r>
              <a:rPr lang="en-US" sz="2000" dirty="0">
                <a:solidFill>
                  <a:schemeClr val="tx1"/>
                </a:solidFill>
              </a:rPr>
              <a:t>Today an engineer finds them by trial and error.</a:t>
            </a:r>
            <a:endParaRPr lang="en-US" sz="2000" dirty="0"/>
          </a:p>
        </p:txBody>
      </p:sp>
      <p:sp>
        <p:nvSpPr>
          <p:cNvPr id="4" name="Stat card 1"/>
          <p:cNvSpPr/>
          <p:nvPr/>
        </p:nvSpPr>
        <p:spPr>
          <a:xfrm>
            <a:off x="5943600" y="1463040"/>
            <a:ext cx="5669280" cy="1371600"/>
          </a:xfrm>
          <a:prstGeom prst="roundRect">
            <a:avLst>
              <a:gd name="adj" fmla="val 5333"/>
            </a:avLst>
          </a:prstGeom>
          <a:solidFill>
            <a:schemeClr val="bg2"/>
          </a:solidFill>
          <a:ln w="12700">
            <a:solidFill>
              <a:schemeClr val="bg2"/>
            </a:solidFill>
            <a:prstDash val="solid"/>
          </a:ln>
        </p:spPr>
      </p:sp>
      <p:sp>
        <p:nvSpPr>
          <p:cNvPr id="5" name="Stat 1"/>
          <p:cNvSpPr txBox="1"/>
          <p:nvPr/>
        </p:nvSpPr>
        <p:spPr>
          <a:xfrm>
            <a:off x="6217920" y="1645920"/>
            <a:ext cx="2286000" cy="1005840"/>
          </a:xfrm>
          <a:prstGeom prst="rect">
            <a:avLst/>
          </a:prstGeom>
          <a:noFill/>
          <a:ln/>
        </p:spPr>
        <p:txBody>
          <a:bodyPr wrap="square" lIns="0" tIns="0" rIns="0" bIns="0" rtlCol="0" anchor="ctr"/>
          <a:lstStyle/>
          <a:p>
            <a:pPr indent="0" marL="0">
              <a:buNone/>
            </a:pPr>
            <a:r>
              <a:rPr lang="en-US" sz="4400" b="1" dirty="0">
                <a:solidFill>
                  <a:schemeClr val="accent4"/>
                </a:solidFill>
                <a:latin typeface="Cambria" pitchFamily="34" charset="0"/>
                <a:ea typeface="Cambria" pitchFamily="34" charset="-122"/>
                <a:cs typeface="Cambria" pitchFamily="34" charset="-120"/>
              </a:rPr>
              <a:t>7.1x</a:t>
            </a:r>
            <a:endParaRPr lang="en-US" sz="4400" dirty="0"/>
          </a:p>
        </p:txBody>
      </p:sp>
      <p:sp>
        <p:nvSpPr>
          <p:cNvPr id="6" name="Stat label 1"/>
          <p:cNvSpPr txBox="1"/>
          <p:nvPr/>
        </p:nvSpPr>
        <p:spPr>
          <a:xfrm>
            <a:off x="8503920" y="1645920"/>
            <a:ext cx="2926080" cy="1005840"/>
          </a:xfrm>
          <a:prstGeom prst="rect">
            <a:avLst/>
          </a:prstGeom>
          <a:noFill/>
          <a:ln/>
        </p:spPr>
        <p:txBody>
          <a:bodyPr wrap="square" lIns="0" tIns="0" rIns="0" bIns="0" rtlCol="0" anchor="ctr"/>
          <a:lstStyle/>
          <a:p>
            <a:pPr indent="0" marL="0">
              <a:buNone/>
            </a:pPr>
            <a:r>
              <a:rPr lang="en-US" sz="1500" dirty="0">
                <a:solidFill>
                  <a:schemeClr val="tx2"/>
                </a:solidFill>
              </a:rPr>
              <a:t>slower at the worst setting than at the best, at an adapter-style shape</a:t>
            </a:r>
            <a:endParaRPr lang="en-US" sz="1500" dirty="0"/>
          </a:p>
        </p:txBody>
      </p:sp>
      <p:sp>
        <p:nvSpPr>
          <p:cNvPr id="7" name="Stat card 2"/>
          <p:cNvSpPr/>
          <p:nvPr/>
        </p:nvSpPr>
        <p:spPr>
          <a:xfrm>
            <a:off x="5943600" y="3035808"/>
            <a:ext cx="5669280" cy="1371600"/>
          </a:xfrm>
          <a:prstGeom prst="roundRect">
            <a:avLst>
              <a:gd name="adj" fmla="val 5333"/>
            </a:avLst>
          </a:prstGeom>
          <a:solidFill>
            <a:schemeClr val="bg2"/>
          </a:solidFill>
          <a:ln w="12700">
            <a:solidFill>
              <a:schemeClr val="bg2"/>
            </a:solidFill>
            <a:prstDash val="solid"/>
          </a:ln>
        </p:spPr>
      </p:sp>
      <p:sp>
        <p:nvSpPr>
          <p:cNvPr id="8" name="Stat 2"/>
          <p:cNvSpPr txBox="1"/>
          <p:nvPr/>
        </p:nvSpPr>
        <p:spPr>
          <a:xfrm>
            <a:off x="6217920" y="3218688"/>
            <a:ext cx="2286000" cy="1005840"/>
          </a:xfrm>
          <a:prstGeom prst="rect">
            <a:avLst/>
          </a:prstGeom>
          <a:noFill/>
          <a:ln/>
        </p:spPr>
        <p:txBody>
          <a:bodyPr wrap="square" lIns="0" tIns="0" rIns="0" bIns="0" rtlCol="0" anchor="ctr"/>
          <a:lstStyle/>
          <a:p>
            <a:pPr indent="0" marL="0">
              <a:buNone/>
            </a:pPr>
            <a:r>
              <a:rPr lang="en-US" sz="4400" b="1" dirty="0">
                <a:solidFill>
                  <a:schemeClr val="accent2"/>
                </a:solidFill>
                <a:latin typeface="Cambria" pitchFamily="34" charset="0"/>
                <a:ea typeface="Cambria" pitchFamily="34" charset="-122"/>
                <a:cs typeface="Cambria" pitchFamily="34" charset="-120"/>
              </a:rPr>
              <a:t>4 of 96</a:t>
            </a:r>
            <a:endParaRPr lang="en-US" sz="4400" dirty="0"/>
          </a:p>
        </p:txBody>
      </p:sp>
      <p:sp>
        <p:nvSpPr>
          <p:cNvPr id="9" name="Stat label 2"/>
          <p:cNvSpPr txBox="1"/>
          <p:nvPr/>
        </p:nvSpPr>
        <p:spPr>
          <a:xfrm>
            <a:off x="8503920" y="3218688"/>
            <a:ext cx="2926080" cy="1005840"/>
          </a:xfrm>
          <a:prstGeom prst="rect">
            <a:avLst/>
          </a:prstGeom>
          <a:noFill/>
          <a:ln/>
        </p:spPr>
        <p:txBody>
          <a:bodyPr wrap="square" lIns="0" tIns="0" rIns="0" bIns="0" rtlCol="0" anchor="ctr"/>
          <a:lstStyle/>
          <a:p>
            <a:pPr indent="0" marL="0">
              <a:buNone/>
            </a:pPr>
            <a:r>
              <a:rPr lang="en-US" sz="1500" dirty="0">
                <a:solidFill>
                  <a:schemeClr val="tx2"/>
                </a:solidFill>
              </a:rPr>
              <a:t>settings are within 2% of the best at that shape</a:t>
            </a:r>
            <a:endParaRPr lang="en-US" sz="1500" dirty="0"/>
          </a:p>
        </p:txBody>
      </p:sp>
      <p:sp>
        <p:nvSpPr>
          <p:cNvPr id="10" name="Stat card 3"/>
          <p:cNvSpPr/>
          <p:nvPr/>
        </p:nvSpPr>
        <p:spPr>
          <a:xfrm>
            <a:off x="5943600" y="4608576"/>
            <a:ext cx="5669280" cy="1371600"/>
          </a:xfrm>
          <a:prstGeom prst="roundRect">
            <a:avLst>
              <a:gd name="adj" fmla="val 5333"/>
            </a:avLst>
          </a:prstGeom>
          <a:solidFill>
            <a:schemeClr val="bg2"/>
          </a:solidFill>
          <a:ln w="12700">
            <a:solidFill>
              <a:schemeClr val="bg2"/>
            </a:solidFill>
            <a:prstDash val="solid"/>
          </a:ln>
        </p:spPr>
      </p:sp>
      <p:sp>
        <p:nvSpPr>
          <p:cNvPr id="11" name="Stat 3"/>
          <p:cNvSpPr txBox="1"/>
          <p:nvPr/>
        </p:nvSpPr>
        <p:spPr>
          <a:xfrm>
            <a:off x="6217920" y="4791456"/>
            <a:ext cx="2286000" cy="1005840"/>
          </a:xfrm>
          <a:prstGeom prst="rect">
            <a:avLst/>
          </a:prstGeom>
          <a:noFill/>
          <a:ln/>
        </p:spPr>
        <p:txBody>
          <a:bodyPr wrap="square" lIns="0" tIns="0" rIns="0" bIns="0" rtlCol="0" anchor="ctr"/>
          <a:lstStyle/>
          <a:p>
            <a:pPr indent="0" marL="0">
              <a:buNone/>
            </a:pPr>
            <a:r>
              <a:rPr lang="en-US" sz="4400" b="1" dirty="0">
                <a:solidFill>
                  <a:schemeClr val="accent1"/>
                </a:solidFill>
                <a:latin typeface="Cambria" pitchFamily="34" charset="0"/>
                <a:ea typeface="Cambria" pitchFamily="34" charset="-122"/>
                <a:cs typeface="Cambria" pitchFamily="34" charset="-120"/>
              </a:rPr>
              <a:t>0 of 4</a:t>
            </a:r>
            <a:endParaRPr lang="en-US" sz="4400" dirty="0"/>
          </a:p>
        </p:txBody>
      </p:sp>
      <p:sp>
        <p:nvSpPr>
          <p:cNvPr id="12" name="Stat label 3"/>
          <p:cNvSpPr txBox="1"/>
          <p:nvPr/>
        </p:nvSpPr>
        <p:spPr>
          <a:xfrm>
            <a:off x="8503920" y="4791456"/>
            <a:ext cx="2926080" cy="1005840"/>
          </a:xfrm>
          <a:prstGeom prst="rect">
            <a:avLst/>
          </a:prstGeom>
          <a:noFill/>
          <a:ln/>
        </p:spPr>
        <p:txBody>
          <a:bodyPr wrap="square" lIns="0" tIns="0" rIns="0" bIns="0" rtlCol="0" anchor="ctr"/>
          <a:lstStyle/>
          <a:p>
            <a:pPr indent="0" marL="0">
              <a:buNone/>
            </a:pPr>
            <a:r>
              <a:rPr lang="en-US" sz="1500" dirty="0">
                <a:solidFill>
                  <a:schemeClr val="tx2"/>
                </a:solidFill>
              </a:rPr>
              <a:t>Qwen3-8B layer shapes where AWS's suggested settings run at 512 tokens</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How it works: a loop in which the chip is the judge</a:t>
            </a:r>
            <a:endParaRPr lang="en-US" sz="3600" dirty="0"/>
          </a:p>
        </p:txBody>
      </p:sp>
      <p:sp>
        <p:nvSpPr>
          <p:cNvPr id="3" name="Role box 1"/>
          <p:cNvSpPr/>
          <p:nvPr/>
        </p:nvSpPr>
        <p:spPr>
          <a:xfrm>
            <a:off x="822960" y="1554480"/>
            <a:ext cx="3931920" cy="1600200"/>
          </a:xfrm>
          <a:prstGeom prst="roundRect">
            <a:avLst>
              <a:gd name="adj" fmla="val 5714"/>
            </a:avLst>
          </a:prstGeom>
          <a:solidFill>
            <a:schemeClr val="accent3"/>
          </a:solidFill>
          <a:ln w="12700">
            <a:solidFill>
              <a:schemeClr val="accent3"/>
            </a:solidFill>
            <a:prstDash val="solid"/>
          </a:ln>
        </p:spPr>
      </p:sp>
      <p:sp>
        <p:nvSpPr>
          <p:cNvPr id="4" name="Role title 1"/>
          <p:cNvSpPr txBox="1"/>
          <p:nvPr/>
        </p:nvSpPr>
        <p:spPr>
          <a:xfrm>
            <a:off x="1051560" y="1719072"/>
            <a:ext cx="347472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1  Kernel</a:t>
            </a:r>
            <a:endParaRPr lang="en-US" sz="2000" dirty="0"/>
          </a:p>
        </p:txBody>
      </p:sp>
      <p:sp>
        <p:nvSpPr>
          <p:cNvPr id="5" name="Role text 1"/>
          <p:cNvSpPr txBox="1"/>
          <p:nvPr/>
        </p:nvSpPr>
        <p:spPr>
          <a:xfrm>
            <a:off x="1051560" y="2176272"/>
            <a:ext cx="3474720" cy="868680"/>
          </a:xfrm>
          <a:prstGeom prst="rect">
            <a:avLst/>
          </a:prstGeom>
          <a:noFill/>
          <a:ln/>
        </p:spPr>
        <p:txBody>
          <a:bodyPr wrap="square" lIns="0" tIns="0" rIns="0" bIns="0" rtlCol="0" anchor="t"/>
          <a:lstStyle/>
          <a:p>
            <a:pPr indent="0" marL="0">
              <a:buNone/>
            </a:pPr>
            <a:r>
              <a:rPr lang="en-US" sz="1400" dirty="0">
                <a:solidFill>
                  <a:schemeClr val="bg1"/>
                </a:solidFill>
              </a:rPr>
              <a:t>AWS's blocked matmul, with three block-size settings (M, N, K)</a:t>
            </a:r>
            <a:endParaRPr lang="en-US" sz="1400" dirty="0"/>
          </a:p>
        </p:txBody>
      </p:sp>
      <p:sp>
        <p:nvSpPr>
          <p:cNvPr id="6" name="Role box 2"/>
          <p:cNvSpPr/>
          <p:nvPr/>
        </p:nvSpPr>
        <p:spPr>
          <a:xfrm>
            <a:off x="7406640" y="1554480"/>
            <a:ext cx="3931920" cy="1600200"/>
          </a:xfrm>
          <a:prstGeom prst="roundRect">
            <a:avLst>
              <a:gd name="adj" fmla="val 5714"/>
            </a:avLst>
          </a:prstGeom>
          <a:solidFill>
            <a:schemeClr val="tx1"/>
          </a:solidFill>
          <a:ln w="12700">
            <a:solidFill>
              <a:schemeClr val="tx1"/>
            </a:solidFill>
            <a:prstDash val="solid"/>
          </a:ln>
        </p:spPr>
      </p:sp>
      <p:sp>
        <p:nvSpPr>
          <p:cNvPr id="7" name="Role title 2"/>
          <p:cNvSpPr txBox="1"/>
          <p:nvPr/>
        </p:nvSpPr>
        <p:spPr>
          <a:xfrm>
            <a:off x="7635240" y="1719072"/>
            <a:ext cx="347472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2  Trainium2 core</a:t>
            </a:r>
            <a:endParaRPr lang="en-US" sz="2000" dirty="0"/>
          </a:p>
        </p:txBody>
      </p:sp>
      <p:sp>
        <p:nvSpPr>
          <p:cNvPr id="8" name="Role text 2"/>
          <p:cNvSpPr txBox="1"/>
          <p:nvPr/>
        </p:nvSpPr>
        <p:spPr>
          <a:xfrm>
            <a:off x="7635240" y="2176272"/>
            <a:ext cx="3474720" cy="868680"/>
          </a:xfrm>
          <a:prstGeom prst="rect">
            <a:avLst/>
          </a:prstGeom>
          <a:noFill/>
          <a:ln/>
        </p:spPr>
        <p:txBody>
          <a:bodyPr wrap="square" lIns="0" tIns="0" rIns="0" bIns="0" rtlCol="0" anchor="t"/>
          <a:lstStyle/>
          <a:p>
            <a:pPr indent="0" marL="0">
              <a:buNone/>
            </a:pPr>
            <a:r>
              <a:rPr lang="en-US" sz="1400" dirty="0">
                <a:solidFill>
                  <a:schemeClr val="bg1"/>
                </a:solidFill>
              </a:rPr>
              <a:t>Compile, run, verify against a reference, profile: time, engine busy, bytes moved</a:t>
            </a:r>
            <a:endParaRPr lang="en-US" sz="1400" dirty="0"/>
          </a:p>
        </p:txBody>
      </p:sp>
      <p:sp>
        <p:nvSpPr>
          <p:cNvPr id="9" name="Role box 3"/>
          <p:cNvSpPr/>
          <p:nvPr/>
        </p:nvSpPr>
        <p:spPr>
          <a:xfrm>
            <a:off x="7406640" y="4206240"/>
            <a:ext cx="3931920" cy="1600200"/>
          </a:xfrm>
          <a:prstGeom prst="roundRect">
            <a:avLst>
              <a:gd name="adj" fmla="val 5714"/>
            </a:avLst>
          </a:prstGeom>
          <a:solidFill>
            <a:schemeClr val="accent1"/>
          </a:solidFill>
          <a:ln w="12700">
            <a:solidFill>
              <a:schemeClr val="accent1"/>
            </a:solidFill>
            <a:prstDash val="solid"/>
          </a:ln>
        </p:spPr>
      </p:sp>
      <p:sp>
        <p:nvSpPr>
          <p:cNvPr id="10" name="Role title 3"/>
          <p:cNvSpPr txBox="1"/>
          <p:nvPr/>
        </p:nvSpPr>
        <p:spPr>
          <a:xfrm>
            <a:off x="7635240" y="4370832"/>
            <a:ext cx="347472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3  Checker</a:t>
            </a:r>
            <a:endParaRPr lang="en-US" sz="2000" dirty="0"/>
          </a:p>
        </p:txBody>
      </p:sp>
      <p:sp>
        <p:nvSpPr>
          <p:cNvPr id="11" name="Role text 3"/>
          <p:cNvSpPr txBox="1"/>
          <p:nvPr/>
        </p:nvSpPr>
        <p:spPr>
          <a:xfrm>
            <a:off x="7635240" y="4828032"/>
            <a:ext cx="3474720" cy="868680"/>
          </a:xfrm>
          <a:prstGeom prst="rect">
            <a:avLst/>
          </a:prstGeom>
          <a:noFill/>
          <a:ln/>
        </p:spPr>
        <p:txBody>
          <a:bodyPr wrap="square" lIns="0" tIns="0" rIns="0" bIns="0" rtlCol="0" anchor="t"/>
          <a:lstStyle/>
          <a:p>
            <a:pPr indent="0" marL="0">
              <a:buNone/>
            </a:pPr>
            <a:r>
              <a:rPr lang="en-US" sz="1400" dirty="0">
                <a:solidFill>
                  <a:schemeClr val="bg1"/>
                </a:solidFill>
              </a:rPr>
              <a:t>Code builds a menu of untried moves with their measured record. Qwen3-8B picks one</a:t>
            </a:r>
            <a:endParaRPr lang="en-US" sz="1400" dirty="0"/>
          </a:p>
        </p:txBody>
      </p:sp>
      <p:sp>
        <p:nvSpPr>
          <p:cNvPr id="12" name="Role box 4"/>
          <p:cNvSpPr/>
          <p:nvPr/>
        </p:nvSpPr>
        <p:spPr>
          <a:xfrm>
            <a:off x="822960" y="4206240"/>
            <a:ext cx="3931920" cy="1600200"/>
          </a:xfrm>
          <a:prstGeom prst="roundRect">
            <a:avLst>
              <a:gd name="adj" fmla="val 5714"/>
            </a:avLst>
          </a:prstGeom>
          <a:solidFill>
            <a:schemeClr val="accent2"/>
          </a:solidFill>
          <a:ln w="12700">
            <a:solidFill>
              <a:schemeClr val="accent2"/>
            </a:solidFill>
            <a:prstDash val="solid"/>
          </a:ln>
        </p:spPr>
      </p:sp>
      <p:sp>
        <p:nvSpPr>
          <p:cNvPr id="13" name="Role title 4"/>
          <p:cNvSpPr txBox="1"/>
          <p:nvPr/>
        </p:nvSpPr>
        <p:spPr>
          <a:xfrm>
            <a:off x="1051560" y="4370832"/>
            <a:ext cx="3474720" cy="411480"/>
          </a:xfrm>
          <a:prstGeom prst="rect">
            <a:avLst/>
          </a:prstGeom>
          <a:noFill/>
          <a:ln/>
        </p:spPr>
        <p:txBody>
          <a:bodyPr wrap="square" lIns="0" tIns="0" rIns="0" bIns="0" rtlCol="0" anchor="t"/>
          <a:lstStyle/>
          <a:p>
            <a:pPr indent="0" marL="0">
              <a:buNone/>
            </a:pPr>
            <a:r>
              <a:rPr lang="en-US" sz="2000" b="1" dirty="0">
                <a:solidFill>
                  <a:schemeClr val="bg1"/>
                </a:solidFill>
                <a:latin typeface="Cambria" pitchFamily="34" charset="0"/>
                <a:ea typeface="Cambria" pitchFamily="34" charset="-122"/>
                <a:cs typeface="Cambria" pitchFamily="34" charset="-120"/>
              </a:rPr>
              <a:t>4  Optimiser</a:t>
            </a:r>
            <a:endParaRPr lang="en-US" sz="2000" dirty="0"/>
          </a:p>
        </p:txBody>
      </p:sp>
      <p:sp>
        <p:nvSpPr>
          <p:cNvPr id="14" name="Role text 4"/>
          <p:cNvSpPr txBox="1"/>
          <p:nvPr/>
        </p:nvSpPr>
        <p:spPr>
          <a:xfrm>
            <a:off x="1051560" y="4828032"/>
            <a:ext cx="3474720" cy="868680"/>
          </a:xfrm>
          <a:prstGeom prst="rect">
            <a:avLst/>
          </a:prstGeom>
          <a:noFill/>
          <a:ln/>
        </p:spPr>
        <p:txBody>
          <a:bodyPr wrap="square" lIns="0" tIns="0" rIns="0" bIns="0" rtlCol="0" anchor="t"/>
          <a:lstStyle/>
          <a:p>
            <a:pPr indent="0" marL="0">
              <a:buNone/>
            </a:pPr>
            <a:r>
              <a:rPr lang="en-US" sz="1400" dirty="0">
                <a:solidFill>
                  <a:schemeClr val="bg1"/>
                </a:solidFill>
              </a:rPr>
              <a:t>Qwen3-8B edits the setting. The edit is checked before any chip time is spent</a:t>
            </a:r>
            <a:endParaRPr lang="en-US" sz="1400" dirty="0"/>
          </a:p>
        </p:txBody>
      </p:sp>
      <p:sp>
        <p:nvSpPr>
          <p:cNvPr id="15" name="Arrow kernel to chip"/>
          <p:cNvSpPr/>
          <p:nvPr/>
        </p:nvSpPr>
        <p:spPr>
          <a:xfrm>
            <a:off x="4892040" y="2350008"/>
            <a:ext cx="2377440" cy="0"/>
          </a:xfrm>
          <a:prstGeom prst="line">
            <a:avLst/>
          </a:prstGeom>
          <a:noFill/>
          <a:ln w="31750">
            <a:solidFill>
              <a:srgbClr val="3D4B57"/>
            </a:solidFill>
            <a:prstDash val="solid"/>
            <a:tailEnd type="triangle"/>
          </a:ln>
        </p:spPr>
      </p:sp>
      <p:sp>
        <p:nvSpPr>
          <p:cNvPr id="16" name="Arrow chip to checker"/>
          <p:cNvSpPr/>
          <p:nvPr/>
        </p:nvSpPr>
        <p:spPr>
          <a:xfrm>
            <a:off x="9372600" y="3291840"/>
            <a:ext cx="0" cy="777240"/>
          </a:xfrm>
          <a:prstGeom prst="line">
            <a:avLst/>
          </a:prstGeom>
          <a:noFill/>
          <a:ln w="31750">
            <a:solidFill>
              <a:srgbClr val="3D4B57"/>
            </a:solidFill>
            <a:prstDash val="solid"/>
            <a:tailEnd type="triangle"/>
          </a:ln>
        </p:spPr>
      </p:sp>
      <p:sp>
        <p:nvSpPr>
          <p:cNvPr id="17" name="Arrow checker to optimiser"/>
          <p:cNvSpPr/>
          <p:nvPr/>
        </p:nvSpPr>
        <p:spPr>
          <a:xfrm flipH="1">
            <a:off x="4892040" y="5001768"/>
            <a:ext cx="2377440" cy="0"/>
          </a:xfrm>
          <a:prstGeom prst="line">
            <a:avLst/>
          </a:prstGeom>
          <a:noFill/>
          <a:ln w="31750">
            <a:solidFill>
              <a:srgbClr val="3D4B57"/>
            </a:solidFill>
            <a:prstDash val="solid"/>
            <a:tailEnd type="triangle"/>
          </a:ln>
        </p:spPr>
      </p:sp>
      <p:sp>
        <p:nvSpPr>
          <p:cNvPr id="18" name="Arrow optimiser to kernel"/>
          <p:cNvSpPr/>
          <p:nvPr/>
        </p:nvSpPr>
        <p:spPr>
          <a:xfrm flipV="1">
            <a:off x="2788920" y="3291840"/>
            <a:ext cx="0" cy="777240"/>
          </a:xfrm>
          <a:prstGeom prst="line">
            <a:avLst/>
          </a:prstGeom>
          <a:noFill/>
          <a:ln w="31750">
            <a:solidFill>
              <a:srgbClr val="3D4B57"/>
            </a:solidFill>
            <a:prstDash val="solid"/>
            <a:tailEnd type="triangle"/>
          </a:ln>
        </p:spPr>
      </p:sp>
      <p:sp>
        <p:nvSpPr>
          <p:cNvPr id="19" name="Label run"/>
          <p:cNvSpPr txBox="1"/>
          <p:nvPr/>
        </p:nvSpPr>
        <p:spPr>
          <a:xfrm>
            <a:off x="4892040" y="1965960"/>
            <a:ext cx="2377440" cy="320040"/>
          </a:xfrm>
          <a:prstGeom prst="rect">
            <a:avLst/>
          </a:prstGeom>
          <a:noFill/>
          <a:ln/>
        </p:spPr>
        <p:txBody>
          <a:bodyPr wrap="square" lIns="0" tIns="0" rIns="0" bIns="0" rtlCol="0" anchor="t"/>
          <a:lstStyle/>
          <a:p>
            <a:pPr algn="ctr" indent="0" marL="0">
              <a:buNone/>
            </a:pPr>
            <a:r>
              <a:rPr lang="en-US" sz="1400" dirty="0">
                <a:solidFill>
                  <a:schemeClr val="tx2"/>
                </a:solidFill>
              </a:rPr>
              <a:t>run it</a:t>
            </a:r>
            <a:endParaRPr lang="en-US" sz="1400" dirty="0"/>
          </a:p>
        </p:txBody>
      </p:sp>
      <p:sp>
        <p:nvSpPr>
          <p:cNvPr id="20" name="Label measurements"/>
          <p:cNvSpPr txBox="1"/>
          <p:nvPr/>
        </p:nvSpPr>
        <p:spPr>
          <a:xfrm>
            <a:off x="9555480" y="3493008"/>
            <a:ext cx="2011680" cy="320040"/>
          </a:xfrm>
          <a:prstGeom prst="rect">
            <a:avLst/>
          </a:prstGeom>
          <a:noFill/>
          <a:ln/>
        </p:spPr>
        <p:txBody>
          <a:bodyPr wrap="square" lIns="0" tIns="0" rIns="0" bIns="0" rtlCol="0" anchor="t"/>
          <a:lstStyle/>
          <a:p>
            <a:pPr indent="0" marL="0">
              <a:buNone/>
            </a:pPr>
            <a:r>
              <a:rPr lang="en-US" sz="1400" dirty="0">
                <a:solidFill>
                  <a:schemeClr val="tx2"/>
                </a:solidFill>
              </a:rPr>
              <a:t>measurements</a:t>
            </a:r>
            <a:endParaRPr lang="en-US" sz="1400" dirty="0"/>
          </a:p>
        </p:txBody>
      </p:sp>
      <p:sp>
        <p:nvSpPr>
          <p:cNvPr id="21" name="Label instruction"/>
          <p:cNvSpPr txBox="1"/>
          <p:nvPr/>
        </p:nvSpPr>
        <p:spPr>
          <a:xfrm>
            <a:off x="4892040" y="4617720"/>
            <a:ext cx="2377440" cy="320040"/>
          </a:xfrm>
          <a:prstGeom prst="rect">
            <a:avLst/>
          </a:prstGeom>
          <a:noFill/>
          <a:ln/>
        </p:spPr>
        <p:txBody>
          <a:bodyPr wrap="square" lIns="0" tIns="0" rIns="0" bIns="0" rtlCol="0" anchor="t"/>
          <a:lstStyle/>
          <a:p>
            <a:pPr algn="ctr" indent="0" marL="0">
              <a:buNone/>
            </a:pPr>
            <a:r>
              <a:rPr lang="en-US" sz="1400" dirty="0">
                <a:solidFill>
                  <a:schemeClr val="tx2"/>
                </a:solidFill>
              </a:rPr>
              <a:t>one instruction</a:t>
            </a:r>
            <a:endParaRPr lang="en-US" sz="1400" dirty="0"/>
          </a:p>
        </p:txBody>
      </p:sp>
      <p:sp>
        <p:nvSpPr>
          <p:cNvPr id="22" name="Label new setting"/>
          <p:cNvSpPr txBox="1"/>
          <p:nvPr/>
        </p:nvSpPr>
        <p:spPr>
          <a:xfrm>
            <a:off x="1097280" y="3493008"/>
            <a:ext cx="1554480" cy="320040"/>
          </a:xfrm>
          <a:prstGeom prst="rect">
            <a:avLst/>
          </a:prstGeom>
          <a:noFill/>
          <a:ln/>
        </p:spPr>
        <p:txBody>
          <a:bodyPr wrap="square" lIns="0" tIns="0" rIns="0" bIns="0" rtlCol="0" anchor="t"/>
          <a:lstStyle/>
          <a:p>
            <a:pPr algn="r" indent="0" marL="0">
              <a:buNone/>
            </a:pPr>
            <a:r>
              <a:rPr lang="en-US" sz="1400" dirty="0">
                <a:solidFill>
                  <a:schemeClr val="tx2"/>
                </a:solidFill>
              </a:rPr>
              <a:t>new setting</a:t>
            </a:r>
            <a:endParaRPr lang="en-US" sz="1400" dirty="0"/>
          </a:p>
        </p:txBody>
      </p:sp>
      <p:sp>
        <p:nvSpPr>
          <p:cNvPr id="23" name="Loop rules"/>
          <p:cNvSpPr txBox="1"/>
          <p:nvPr/>
        </p:nvSpPr>
        <p:spPr>
          <a:xfrm>
            <a:off x="4754880" y="3063240"/>
            <a:ext cx="2651760" cy="1188720"/>
          </a:xfrm>
          <a:prstGeom prst="rect">
            <a:avLst/>
          </a:prstGeom>
          <a:noFill/>
          <a:ln/>
        </p:spPr>
        <p:txBody>
          <a:bodyPr wrap="square" lIns="0" tIns="0" rIns="0" bIns="0" rtlCol="0" anchor="ctr"/>
          <a:lstStyle/>
          <a:p>
            <a:pPr algn="ctr" indent="0" marL="0">
              <a:buNone/>
            </a:pPr>
            <a:r>
              <a:rPr lang="en-US" sz="1400" b="1" dirty="0">
                <a:solidFill>
                  <a:schemeClr val="tx1"/>
                </a:solidFill>
              </a:rPr>
              <a:t>10 attempts per run</a:t>
            </a:r>
            <a:endParaRPr lang="en-US" sz="1400" dirty="0"/>
          </a:p>
          <a:p>
            <a:pPr algn="ctr" indent="0" marL="0">
              <a:buNone/>
            </a:pPr>
            <a:r>
              <a:rPr lang="en-US" sz="1400" dirty="0">
                <a:solidFill>
                  <a:schemeClr val="tx1"/>
                </a:solidFill>
              </a:rPr>
              <a:t>Keep the fastest setting found</a:t>
            </a:r>
            <a:endParaRPr lang="en-US" sz="1400" dirty="0"/>
          </a:p>
          <a:p>
            <a:pPr algn="ctr" indent="0" marL="0">
              <a:buNone/>
            </a:pPr>
            <a:r>
              <a:rPr lang="en-US" sz="1400" dirty="0">
                <a:solidFill>
                  <a:schemeClr val="tx1"/>
                </a:solidFill>
              </a:rPr>
              <a:t>Nothing larger than 8B in the loop</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title" hasCustomPrompt="1"/>
          </p:nvPr>
        </p:nvSpPr>
        <p:spPr>
          <a:xfrm>
            <a:off x="548640" y="182880"/>
            <a:ext cx="11064240" cy="502920"/>
          </a:xfrm>
          <a:prstGeom prst="rect">
            <a:avLst/>
          </a:prstGeom>
          <a:noFill/>
          <a:ln/>
        </p:spPr>
        <p:txBody>
          <a:bodyPr wrap="square" lIns="0" tIns="0" rIns="0" bIns="0" rtlCol="0" anchor="ctr"/>
          <a:lstStyle/>
          <a:p>
            <a:pPr algn="l" indent="0" marL="0">
              <a:buNone/>
            </a:pPr>
            <a:r>
              <a:rPr lang="en-US" sz="2400" b="1" dirty="0">
                <a:solidFill>
                  <a:schemeClr val="tx1"/>
                </a:solidFill>
              </a:rPr>
              <a:t>Architecture: the tuning loop, the side measurements, and what we built on</a:t>
            </a:r>
            <a:endParaRPr lang="en-US" sz="2400" dirty="0"/>
          </a:p>
        </p:txBody>
      </p:sp>
      <p:pic>
        <p:nvPicPr>
          <p:cNvPr id="3" name="Architecture diagram" descr="Architecture diagram: a loop driver sends M, N, K settings to a blocked matmul kernel on a Trainium2 NeuronCore on seats 206 to 209; neuron-explorer profiles it; the result goes to a checker model and an optimiser model, both Qwen3-8B on seat 205; side measurements on seat 170 compare traced models with the AWS compiler default; below, the hackathon repo, AWS's NKI skills and the Neuron SDK that the work builds on">    </p:cNvPr>
          <p:cNvPicPr>
            <a:picLocks noChangeAspect="1"/>
          </p:cNvPicPr>
          <p:nvPr/>
        </p:nvPicPr>
        <p:blipFill>
          <a:blip r:embed="rId1"/>
          <a:stretch>
            <a:fillRect/>
          </a:stretch>
        </p:blipFill>
        <p:spPr>
          <a:xfrm>
            <a:off x="1627632" y="777240"/>
            <a:ext cx="8942832" cy="5943600"/>
          </a:xfrm>
          <a:prstGeom prst="rect">
            <a:avLst/>
          </a:prstGeom>
        </p:spPr>
      </p:pic>
      <p:sp>
        <p:nvSpPr>
          <p:cNvPr id="25" name="Slide Number Placeholder 0"/>
          <p:cNvSpPr>
            <a:spLocks noGrp="1"/>
          </p:cNvSpPr>
          <p:nvPr>
            <p:ph type="sldNum" sz="quarter" idx="4294967295"/>
          </p:nvPr>
        </p:nvSpPr>
        <p:spPr>
          <a:xfrm>
            <a:off x="11155680" y="649224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The AWS profiling tools behind every number</a:t>
            </a:r>
            <a:endParaRPr lang="en-US" sz="3600" dirty="0"/>
          </a:p>
        </p:txBody>
      </p:sp>
      <p:sp>
        <p:nvSpPr>
          <p:cNvPr id="3" name="Tool badge 1"/>
          <p:cNvSpPr/>
          <p:nvPr/>
        </p:nvSpPr>
        <p:spPr>
          <a:xfrm>
            <a:off x="548640" y="1536192"/>
            <a:ext cx="457200" cy="457200"/>
          </a:xfrm>
          <a:prstGeom prst="ellipse">
            <a:avLst/>
          </a:prstGeom>
          <a:solidFill>
            <a:schemeClr val="accent1"/>
          </a:solidFill>
          <a:ln w="12700">
            <a:solidFill>
              <a:schemeClr val="accent1"/>
            </a:solidFill>
            <a:prstDash val="solid"/>
          </a:ln>
        </p:spPr>
      </p:sp>
      <p:sp>
        <p:nvSpPr>
          <p:cNvPr id="4" name="Tool number 1"/>
          <p:cNvSpPr txBox="1"/>
          <p:nvPr/>
        </p:nvSpPr>
        <p:spPr>
          <a:xfrm>
            <a:off x="548640" y="153619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1</a:t>
            </a:r>
            <a:endParaRPr lang="en-US" sz="1600" dirty="0"/>
          </a:p>
        </p:txBody>
      </p:sp>
      <p:sp>
        <p:nvSpPr>
          <p:cNvPr id="5" name="Tool name 1"/>
          <p:cNvSpPr txBox="1"/>
          <p:nvPr/>
        </p:nvSpPr>
        <p:spPr>
          <a:xfrm>
            <a:off x="1188720" y="1463040"/>
            <a:ext cx="5669280" cy="329184"/>
          </a:xfrm>
          <a:prstGeom prst="rect">
            <a:avLst/>
          </a:prstGeom>
          <a:noFill/>
          <a:ln/>
        </p:spPr>
        <p:txBody>
          <a:bodyPr wrap="square" lIns="0" tIns="0" rIns="0" bIns="0" rtlCol="0" anchor="t"/>
          <a:lstStyle/>
          <a:p>
            <a:pPr indent="0" marL="0">
              <a:buNone/>
            </a:pPr>
            <a:r>
              <a:rPr lang="en-US" sz="1700" b="1" dirty="0">
                <a:solidFill>
                  <a:schemeClr val="tx1"/>
                </a:solidFill>
              </a:rPr>
              <a:t>neuron-explorer capture</a:t>
            </a:r>
            <a:endParaRPr lang="en-US" sz="1700" dirty="0"/>
          </a:p>
        </p:txBody>
      </p:sp>
      <p:sp>
        <p:nvSpPr>
          <p:cNvPr id="6" name="Tool use 1"/>
          <p:cNvSpPr txBox="1"/>
          <p:nvPr/>
        </p:nvSpPr>
        <p:spPr>
          <a:xfrm>
            <a:off x="1188720" y="1801368"/>
            <a:ext cx="5669280" cy="530352"/>
          </a:xfrm>
          <a:prstGeom prst="rect">
            <a:avLst/>
          </a:prstGeom>
          <a:noFill/>
          <a:ln/>
        </p:spPr>
        <p:txBody>
          <a:bodyPr wrap="square" lIns="0" tIns="0" rIns="0" bIns="0" rtlCol="0" anchor="t"/>
          <a:lstStyle/>
          <a:p>
            <a:pPr indent="0" marL="0">
              <a:buNone/>
            </a:pPr>
            <a:r>
              <a:rPr lang="en-US" sz="1400" dirty="0">
                <a:solidFill>
                  <a:schemeClr val="tx2"/>
                </a:solidFill>
              </a:rPr>
              <a:t>Records a hardware trace of the compiled kernel on one NeuronCore. We take the median of three captures.</a:t>
            </a:r>
            <a:endParaRPr lang="en-US" sz="1400" dirty="0"/>
          </a:p>
        </p:txBody>
      </p:sp>
      <p:sp>
        <p:nvSpPr>
          <p:cNvPr id="7" name="Tool badge 2"/>
          <p:cNvSpPr/>
          <p:nvPr/>
        </p:nvSpPr>
        <p:spPr>
          <a:xfrm>
            <a:off x="548640" y="2468880"/>
            <a:ext cx="457200" cy="457200"/>
          </a:xfrm>
          <a:prstGeom prst="ellipse">
            <a:avLst/>
          </a:prstGeom>
          <a:solidFill>
            <a:schemeClr val="accent1"/>
          </a:solidFill>
          <a:ln w="12700">
            <a:solidFill>
              <a:schemeClr val="accent1"/>
            </a:solidFill>
            <a:prstDash val="solid"/>
          </a:ln>
        </p:spPr>
      </p:sp>
      <p:sp>
        <p:nvSpPr>
          <p:cNvPr id="8" name="Tool number 2"/>
          <p:cNvSpPr txBox="1"/>
          <p:nvPr/>
        </p:nvSpPr>
        <p:spPr>
          <a:xfrm>
            <a:off x="548640" y="2468880"/>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2</a:t>
            </a:r>
            <a:endParaRPr lang="en-US" sz="1600" dirty="0"/>
          </a:p>
        </p:txBody>
      </p:sp>
      <p:sp>
        <p:nvSpPr>
          <p:cNvPr id="9" name="Tool name 2"/>
          <p:cNvSpPr txBox="1"/>
          <p:nvPr/>
        </p:nvSpPr>
        <p:spPr>
          <a:xfrm>
            <a:off x="1188720" y="2395728"/>
            <a:ext cx="5669280" cy="329184"/>
          </a:xfrm>
          <a:prstGeom prst="rect">
            <a:avLst/>
          </a:prstGeom>
          <a:noFill/>
          <a:ln/>
        </p:spPr>
        <p:txBody>
          <a:bodyPr wrap="square" lIns="0" tIns="0" rIns="0" bIns="0" rtlCol="0" anchor="t"/>
          <a:lstStyle/>
          <a:p>
            <a:pPr indent="0" marL="0">
              <a:buNone/>
            </a:pPr>
            <a:r>
              <a:rPr lang="en-US" sz="1700" b="1" dirty="0">
                <a:solidFill>
                  <a:schemeClr val="tx1"/>
                </a:solidFill>
              </a:rPr>
              <a:t>neuron-explorer view</a:t>
            </a:r>
            <a:endParaRPr lang="en-US" sz="1700" dirty="0"/>
          </a:p>
        </p:txBody>
      </p:sp>
      <p:sp>
        <p:nvSpPr>
          <p:cNvPr id="10" name="Tool use 2"/>
          <p:cNvSpPr txBox="1"/>
          <p:nvPr/>
        </p:nvSpPr>
        <p:spPr>
          <a:xfrm>
            <a:off x="1188720" y="2734056"/>
            <a:ext cx="5669280" cy="530352"/>
          </a:xfrm>
          <a:prstGeom prst="rect">
            <a:avLst/>
          </a:prstGeom>
          <a:noFill/>
          <a:ln/>
        </p:spPr>
        <p:txBody>
          <a:bodyPr wrap="square" lIns="0" tIns="0" rIns="0" bIns="0" rtlCol="0" anchor="t"/>
          <a:lstStyle/>
          <a:p>
            <a:pPr indent="0" marL="0">
              <a:buNone/>
            </a:pPr>
            <a:r>
              <a:rPr lang="en-US" sz="1400" dirty="0">
                <a:solidFill>
                  <a:schemeClr val="tx2"/>
                </a:solidFill>
              </a:rPr>
              <a:t>Turns the trace into a 115-field summary. We read time, engine busy, data-movement busy, bytes and transfers.</a:t>
            </a:r>
            <a:endParaRPr lang="en-US" sz="1400" dirty="0"/>
          </a:p>
        </p:txBody>
      </p:sp>
      <p:sp>
        <p:nvSpPr>
          <p:cNvPr id="11" name="Tool badge 3"/>
          <p:cNvSpPr/>
          <p:nvPr/>
        </p:nvSpPr>
        <p:spPr>
          <a:xfrm>
            <a:off x="548640" y="3401568"/>
            <a:ext cx="457200" cy="457200"/>
          </a:xfrm>
          <a:prstGeom prst="ellipse">
            <a:avLst/>
          </a:prstGeom>
          <a:solidFill>
            <a:schemeClr val="accent1"/>
          </a:solidFill>
          <a:ln w="12700">
            <a:solidFill>
              <a:schemeClr val="accent1"/>
            </a:solidFill>
            <a:prstDash val="solid"/>
          </a:ln>
        </p:spPr>
      </p:sp>
      <p:sp>
        <p:nvSpPr>
          <p:cNvPr id="12" name="Tool number 3"/>
          <p:cNvSpPr txBox="1"/>
          <p:nvPr/>
        </p:nvSpPr>
        <p:spPr>
          <a:xfrm>
            <a:off x="548640" y="340156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3</a:t>
            </a:r>
            <a:endParaRPr lang="en-US" sz="1600" dirty="0"/>
          </a:p>
        </p:txBody>
      </p:sp>
      <p:sp>
        <p:nvSpPr>
          <p:cNvPr id="13" name="Tool name 3"/>
          <p:cNvSpPr txBox="1"/>
          <p:nvPr/>
        </p:nvSpPr>
        <p:spPr>
          <a:xfrm>
            <a:off x="1188720" y="3328416"/>
            <a:ext cx="5669280" cy="329184"/>
          </a:xfrm>
          <a:prstGeom prst="rect">
            <a:avLst/>
          </a:prstGeom>
          <a:noFill/>
          <a:ln/>
        </p:spPr>
        <p:txBody>
          <a:bodyPr wrap="square" lIns="0" tIns="0" rIns="0" bIns="0" rtlCol="0" anchor="t"/>
          <a:lstStyle/>
          <a:p>
            <a:pPr indent="0" marL="0">
              <a:buNone/>
            </a:pPr>
            <a:r>
              <a:rPr lang="en-US" sz="1700" b="1" dirty="0">
                <a:solidFill>
                  <a:schemeClr val="tx1"/>
                </a:solidFill>
              </a:rPr>
              <a:t>NKI and neuronx-cc</a:t>
            </a:r>
            <a:endParaRPr lang="en-US" sz="1700" dirty="0"/>
          </a:p>
        </p:txBody>
      </p:sp>
      <p:sp>
        <p:nvSpPr>
          <p:cNvPr id="14" name="Tool use 3"/>
          <p:cNvSpPr txBox="1"/>
          <p:nvPr/>
        </p:nvSpPr>
        <p:spPr>
          <a:xfrm>
            <a:off x="1188720" y="3666744"/>
            <a:ext cx="5669280" cy="530352"/>
          </a:xfrm>
          <a:prstGeom prst="rect">
            <a:avLst/>
          </a:prstGeom>
          <a:noFill/>
          <a:ln/>
        </p:spPr>
        <p:txBody>
          <a:bodyPr wrap="square" lIns="0" tIns="0" rIns="0" bIns="0" rtlCol="0" anchor="t"/>
          <a:lstStyle/>
          <a:p>
            <a:pPr indent="0" marL="0">
              <a:buNone/>
            </a:pPr>
            <a:r>
              <a:rPr lang="en-US" sz="1400" dirty="0">
                <a:solidFill>
                  <a:schemeClr val="tx2"/>
                </a:solidFill>
              </a:rPr>
              <a:t>Compile and run the kernel standalone on the chip. The CPU simulator, nki.simulate, was our comparison.</a:t>
            </a:r>
            <a:endParaRPr lang="en-US" sz="1400" dirty="0"/>
          </a:p>
        </p:txBody>
      </p:sp>
      <p:sp>
        <p:nvSpPr>
          <p:cNvPr id="15" name="Tool badge 4"/>
          <p:cNvSpPr/>
          <p:nvPr/>
        </p:nvSpPr>
        <p:spPr>
          <a:xfrm>
            <a:off x="548640" y="4334256"/>
            <a:ext cx="457200" cy="457200"/>
          </a:xfrm>
          <a:prstGeom prst="ellipse">
            <a:avLst/>
          </a:prstGeom>
          <a:solidFill>
            <a:schemeClr val="accent1"/>
          </a:solidFill>
          <a:ln w="12700">
            <a:solidFill>
              <a:schemeClr val="accent1"/>
            </a:solidFill>
            <a:prstDash val="solid"/>
          </a:ln>
        </p:spPr>
      </p:sp>
      <p:sp>
        <p:nvSpPr>
          <p:cNvPr id="16" name="Tool number 4"/>
          <p:cNvSpPr txBox="1"/>
          <p:nvPr/>
        </p:nvSpPr>
        <p:spPr>
          <a:xfrm>
            <a:off x="548640" y="433425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4</a:t>
            </a:r>
            <a:endParaRPr lang="en-US" sz="1600" dirty="0"/>
          </a:p>
        </p:txBody>
      </p:sp>
      <p:sp>
        <p:nvSpPr>
          <p:cNvPr id="17" name="Tool name 4"/>
          <p:cNvSpPr txBox="1"/>
          <p:nvPr/>
        </p:nvSpPr>
        <p:spPr>
          <a:xfrm>
            <a:off x="1188720" y="4261104"/>
            <a:ext cx="5669280" cy="329184"/>
          </a:xfrm>
          <a:prstGeom prst="rect">
            <a:avLst/>
          </a:prstGeom>
          <a:noFill/>
          <a:ln/>
        </p:spPr>
        <p:txBody>
          <a:bodyPr wrap="square" lIns="0" tIns="0" rIns="0" bIns="0" rtlCol="0" anchor="t"/>
          <a:lstStyle/>
          <a:p>
            <a:pPr indent="0" marL="0">
              <a:buNone/>
            </a:pPr>
            <a:r>
              <a:rPr lang="en-US" sz="1700" b="1" dirty="0">
                <a:solidFill>
                  <a:schemeClr val="tx1"/>
                </a:solidFill>
              </a:rPr>
              <a:t>Neuron agentic skills</a:t>
            </a:r>
            <a:endParaRPr lang="en-US" sz="1700" dirty="0"/>
          </a:p>
        </p:txBody>
      </p:sp>
      <p:sp>
        <p:nvSpPr>
          <p:cNvPr id="18" name="Tool use 4"/>
          <p:cNvSpPr txBox="1"/>
          <p:nvPr/>
        </p:nvSpPr>
        <p:spPr>
          <a:xfrm>
            <a:off x="1188720" y="4599432"/>
            <a:ext cx="5669280" cy="530352"/>
          </a:xfrm>
          <a:prstGeom prst="rect">
            <a:avLst/>
          </a:prstGeom>
          <a:noFill/>
          <a:ln/>
        </p:spPr>
        <p:txBody>
          <a:bodyPr wrap="square" lIns="0" tIns="0" rIns="0" bIns="0" rtlCol="0" anchor="t"/>
          <a:lstStyle/>
          <a:p>
            <a:pPr indent="0" marL="0">
              <a:buNone/>
            </a:pPr>
            <a:r>
              <a:rPr lang="en-US" sz="1400" dirty="0">
                <a:solidFill>
                  <a:schemeClr val="tx2"/>
                </a:solidFill>
              </a:rPr>
              <a:t>AWS's NKI profiling recipe and profile-querying guide, adapted because the pods lack torch_neuronx.</a:t>
            </a:r>
            <a:endParaRPr lang="en-US" sz="1400" dirty="0"/>
          </a:p>
        </p:txBody>
      </p:sp>
      <p:sp>
        <p:nvSpPr>
          <p:cNvPr id="19" name="Tool badge 5"/>
          <p:cNvSpPr/>
          <p:nvPr/>
        </p:nvSpPr>
        <p:spPr>
          <a:xfrm>
            <a:off x="548640" y="5266944"/>
            <a:ext cx="457200" cy="457200"/>
          </a:xfrm>
          <a:prstGeom prst="ellipse">
            <a:avLst/>
          </a:prstGeom>
          <a:solidFill>
            <a:schemeClr val="accent3"/>
          </a:solidFill>
          <a:ln w="12700">
            <a:solidFill>
              <a:schemeClr val="accent3"/>
            </a:solidFill>
            <a:prstDash val="solid"/>
          </a:ln>
        </p:spPr>
      </p:sp>
      <p:sp>
        <p:nvSpPr>
          <p:cNvPr id="20" name="Tool number 5"/>
          <p:cNvSpPr txBox="1"/>
          <p:nvPr/>
        </p:nvSpPr>
        <p:spPr>
          <a:xfrm>
            <a:off x="548640" y="52669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rPr>
              <a:t>5</a:t>
            </a:r>
            <a:endParaRPr lang="en-US" sz="1600" dirty="0"/>
          </a:p>
        </p:txBody>
      </p:sp>
      <p:sp>
        <p:nvSpPr>
          <p:cNvPr id="21" name="Tool name 5"/>
          <p:cNvSpPr txBox="1"/>
          <p:nvPr/>
        </p:nvSpPr>
        <p:spPr>
          <a:xfrm>
            <a:off x="1188720" y="5193792"/>
            <a:ext cx="5669280" cy="329184"/>
          </a:xfrm>
          <a:prstGeom prst="rect">
            <a:avLst/>
          </a:prstGeom>
          <a:noFill/>
          <a:ln/>
        </p:spPr>
        <p:txBody>
          <a:bodyPr wrap="square" lIns="0" tIns="0" rIns="0" bIns="0" rtlCol="0" anchor="t"/>
          <a:lstStyle/>
          <a:p>
            <a:pPr indent="0" marL="0">
              <a:buNone/>
            </a:pPr>
            <a:r>
              <a:rPr lang="en-US" sz="1700" b="1" dirty="0">
                <a:solidFill>
                  <a:schemeClr val="tx1"/>
                </a:solidFill>
              </a:rPr>
              <a:t>neuron-explorer recommend</a:t>
            </a:r>
            <a:endParaRPr lang="en-US" sz="1700" dirty="0"/>
          </a:p>
        </p:txBody>
      </p:sp>
      <p:sp>
        <p:nvSpPr>
          <p:cNvPr id="22" name="Tool use 5"/>
          <p:cNvSpPr txBox="1"/>
          <p:nvPr/>
        </p:nvSpPr>
        <p:spPr>
          <a:xfrm>
            <a:off x="1188720" y="5532120"/>
            <a:ext cx="5669280" cy="530352"/>
          </a:xfrm>
          <a:prstGeom prst="rect">
            <a:avLst/>
          </a:prstGeom>
          <a:noFill/>
          <a:ln/>
        </p:spPr>
        <p:txBody>
          <a:bodyPr wrap="square" lIns="0" tIns="0" rIns="0" bIns="0" rtlCol="0" anchor="t"/>
          <a:lstStyle/>
          <a:p>
            <a:pPr indent="0" marL="0">
              <a:buNone/>
            </a:pPr>
            <a:r>
              <a:rPr lang="en-US" sz="1400" dirty="0">
                <a:solidFill>
                  <a:schemeClr val="tx2"/>
                </a:solidFill>
              </a:rPr>
              <a:t>AWS's Bedrock-powered advisor. Read in print-only mode (a 155,604-character prompt); not used in the loop.</a:t>
            </a:r>
            <a:endParaRPr lang="en-US" sz="1400" dirty="0"/>
          </a:p>
        </p:txBody>
      </p:sp>
      <p:sp>
        <p:nvSpPr>
          <p:cNvPr id="23" name="Profile card"/>
          <p:cNvSpPr/>
          <p:nvPr/>
        </p:nvSpPr>
        <p:spPr>
          <a:xfrm>
            <a:off x="7315200" y="1463040"/>
            <a:ext cx="4297680" cy="4572000"/>
          </a:xfrm>
          <a:prstGeom prst="roundRect">
            <a:avLst>
              <a:gd name="adj" fmla="val 1702"/>
            </a:avLst>
          </a:prstGeom>
          <a:solidFill>
            <a:schemeClr val="tx1"/>
          </a:solidFill>
          <a:ln w="12700">
            <a:solidFill>
              <a:schemeClr val="tx1"/>
            </a:solidFill>
            <a:prstDash val="solid"/>
          </a:ln>
        </p:spPr>
      </p:sp>
      <p:sp>
        <p:nvSpPr>
          <p:cNvPr id="24" name="Profile heading"/>
          <p:cNvSpPr txBox="1"/>
          <p:nvPr/>
        </p:nvSpPr>
        <p:spPr>
          <a:xfrm>
            <a:off x="7589520" y="1645920"/>
            <a:ext cx="3749040" cy="411480"/>
          </a:xfrm>
          <a:prstGeom prst="rect">
            <a:avLst/>
          </a:prstGeom>
          <a:noFill/>
          <a:ln/>
        </p:spPr>
        <p:txBody>
          <a:bodyPr wrap="square" lIns="0" tIns="0" rIns="0" bIns="0" rtlCol="0" anchor="t"/>
          <a:lstStyle/>
          <a:p>
            <a:pPr indent="0" marL="0">
              <a:buNone/>
            </a:pPr>
            <a:r>
              <a:rPr lang="en-US" sz="2000" b="1" dirty="0">
                <a:solidFill>
                  <a:schemeClr val="accent5"/>
                </a:solidFill>
                <a:latin typeface="Cambria" pitchFamily="34" charset="0"/>
                <a:ea typeface="Cambria" pitchFamily="34" charset="-122"/>
                <a:cs typeface="Cambria" pitchFamily="34" charset="-120"/>
              </a:rPr>
              <a:t>One profile, in numbers</a:t>
            </a:r>
            <a:endParaRPr lang="en-US" sz="2000" dirty="0"/>
          </a:p>
        </p:txBody>
      </p:sp>
      <p:sp>
        <p:nvSpPr>
          <p:cNvPr id="25" name="Profile subject"/>
          <p:cNvSpPr txBox="1"/>
          <p:nvPr/>
        </p:nvSpPr>
        <p:spPr>
          <a:xfrm>
            <a:off x="7589520" y="2084832"/>
            <a:ext cx="3749040" cy="502920"/>
          </a:xfrm>
          <a:prstGeom prst="rect">
            <a:avLst/>
          </a:prstGeom>
          <a:noFill/>
          <a:ln/>
        </p:spPr>
        <p:txBody>
          <a:bodyPr wrap="square" lIns="0" tIns="0" rIns="0" bIns="0" rtlCol="0" anchor="t"/>
          <a:lstStyle/>
          <a:p>
            <a:pPr indent="0" marL="0">
              <a:buNone/>
            </a:pPr>
            <a:r>
              <a:rPr lang="en-US" sz="1300" dirty="0">
                <a:solidFill>
                  <a:schemeClr val="accent5"/>
                </a:solidFill>
              </a:rPr>
              <a:t>AWS's fully optimised matmul at 2048, on the chip</a:t>
            </a:r>
            <a:endParaRPr lang="en-US" sz="1300" dirty="0"/>
          </a:p>
        </p:txBody>
      </p:sp>
      <p:sp>
        <p:nvSpPr>
          <p:cNvPr id="26" name="Profile value 1"/>
          <p:cNvSpPr txBox="1"/>
          <p:nvPr/>
        </p:nvSpPr>
        <p:spPr>
          <a:xfrm>
            <a:off x="7589520" y="2743200"/>
            <a:ext cx="1920240" cy="64008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905.8 µs</a:t>
            </a:r>
            <a:endParaRPr lang="en-US" sz="2600" dirty="0"/>
          </a:p>
        </p:txBody>
      </p:sp>
      <p:sp>
        <p:nvSpPr>
          <p:cNvPr id="27" name="Profile label 1"/>
          <p:cNvSpPr txBox="1"/>
          <p:nvPr/>
        </p:nvSpPr>
        <p:spPr>
          <a:xfrm>
            <a:off x="9509760" y="2743200"/>
            <a:ext cx="1920240" cy="640080"/>
          </a:xfrm>
          <a:prstGeom prst="rect">
            <a:avLst/>
          </a:prstGeom>
          <a:noFill/>
          <a:ln/>
        </p:spPr>
        <p:txBody>
          <a:bodyPr wrap="square" lIns="0" tIns="0" rIns="0" bIns="0" rtlCol="0" anchor="ctr"/>
          <a:lstStyle/>
          <a:p>
            <a:pPr indent="0" marL="0">
              <a:buNone/>
            </a:pPr>
            <a:r>
              <a:rPr lang="en-US" sz="1400" dirty="0">
                <a:solidFill>
                  <a:schemeClr val="accent5"/>
                </a:solidFill>
              </a:rPr>
              <a:t>time on the chip</a:t>
            </a:r>
            <a:endParaRPr lang="en-US" sz="1400" dirty="0"/>
          </a:p>
        </p:txBody>
      </p:sp>
      <p:sp>
        <p:nvSpPr>
          <p:cNvPr id="28" name="Profile value 2"/>
          <p:cNvSpPr txBox="1"/>
          <p:nvPr/>
        </p:nvSpPr>
        <p:spPr>
          <a:xfrm>
            <a:off x="7589520" y="3547872"/>
            <a:ext cx="1920240" cy="64008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97.5%</a:t>
            </a:r>
            <a:endParaRPr lang="en-US" sz="2600" dirty="0"/>
          </a:p>
        </p:txBody>
      </p:sp>
      <p:sp>
        <p:nvSpPr>
          <p:cNvPr id="29" name="Profile label 2"/>
          <p:cNvSpPr txBox="1"/>
          <p:nvPr/>
        </p:nvSpPr>
        <p:spPr>
          <a:xfrm>
            <a:off x="9509760" y="3547872"/>
            <a:ext cx="1920240" cy="640080"/>
          </a:xfrm>
          <a:prstGeom prst="rect">
            <a:avLst/>
          </a:prstGeom>
          <a:noFill/>
          <a:ln/>
        </p:spPr>
        <p:txBody>
          <a:bodyPr wrap="square" lIns="0" tIns="0" rIns="0" bIns="0" rtlCol="0" anchor="ctr"/>
          <a:lstStyle/>
          <a:p>
            <a:pPr indent="0" marL="0">
              <a:buNone/>
            </a:pPr>
            <a:r>
              <a:rPr lang="en-US" sz="1400" dirty="0">
                <a:solidFill>
                  <a:schemeClr val="accent5"/>
                </a:solidFill>
              </a:rPr>
              <a:t>tensor engine busy</a:t>
            </a:r>
            <a:endParaRPr lang="en-US" sz="1400" dirty="0"/>
          </a:p>
        </p:txBody>
      </p:sp>
      <p:sp>
        <p:nvSpPr>
          <p:cNvPr id="30" name="Profile value 3"/>
          <p:cNvSpPr txBox="1"/>
          <p:nvPr/>
        </p:nvSpPr>
        <p:spPr>
          <a:xfrm>
            <a:off x="7589520" y="4352544"/>
            <a:ext cx="1920240" cy="64008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21.7%</a:t>
            </a:r>
            <a:endParaRPr lang="en-US" sz="2600" dirty="0"/>
          </a:p>
        </p:txBody>
      </p:sp>
      <p:sp>
        <p:nvSpPr>
          <p:cNvPr id="31" name="Profile label 3"/>
          <p:cNvSpPr txBox="1"/>
          <p:nvPr/>
        </p:nvSpPr>
        <p:spPr>
          <a:xfrm>
            <a:off x="9509760" y="4352544"/>
            <a:ext cx="1920240" cy="640080"/>
          </a:xfrm>
          <a:prstGeom prst="rect">
            <a:avLst/>
          </a:prstGeom>
          <a:noFill/>
          <a:ln/>
        </p:spPr>
        <p:txBody>
          <a:bodyPr wrap="square" lIns="0" tIns="0" rIns="0" bIns="0" rtlCol="0" anchor="ctr"/>
          <a:lstStyle/>
          <a:p>
            <a:pPr indent="0" marL="0">
              <a:buNone/>
            </a:pPr>
            <a:r>
              <a:rPr lang="en-US" sz="1400" dirty="0">
                <a:solidFill>
                  <a:schemeClr val="accent5"/>
                </a:solidFill>
              </a:rPr>
              <a:t>data movement busy</a:t>
            </a:r>
            <a:endParaRPr lang="en-US" sz="1400" dirty="0"/>
          </a:p>
        </p:txBody>
      </p:sp>
      <p:sp>
        <p:nvSpPr>
          <p:cNvPr id="32" name="Profile value 4"/>
          <p:cNvSpPr txBox="1"/>
          <p:nvPr/>
        </p:nvSpPr>
        <p:spPr>
          <a:xfrm>
            <a:off x="7589520" y="5157216"/>
            <a:ext cx="1920240" cy="640080"/>
          </a:xfrm>
          <a:prstGeom prst="rect">
            <a:avLst/>
          </a:prstGeom>
          <a:noFill/>
          <a:ln/>
        </p:spPr>
        <p:txBody>
          <a:bodyPr wrap="square" lIns="0" tIns="0" rIns="0" bIns="0" rtlCol="0" anchor="ctr"/>
          <a:lstStyle/>
          <a:p>
            <a:pPr indent="0" marL="0">
              <a:buNone/>
            </a:pPr>
            <a:r>
              <a:rPr lang="en-US" sz="2600" b="1" dirty="0">
                <a:solidFill>
                  <a:schemeClr val="bg1"/>
                </a:solidFill>
                <a:latin typeface="Cambria" pitchFamily="34" charset="0"/>
                <a:ea typeface="Cambria" pitchFamily="34" charset="-122"/>
                <a:cs typeface="Cambria" pitchFamily="34" charset="-120"/>
              </a:rPr>
              <a:t>67.1 MB</a:t>
            </a:r>
            <a:endParaRPr lang="en-US" sz="2600" dirty="0"/>
          </a:p>
        </p:txBody>
      </p:sp>
      <p:sp>
        <p:nvSpPr>
          <p:cNvPr id="33" name="Profile label 4"/>
          <p:cNvSpPr txBox="1"/>
          <p:nvPr/>
        </p:nvSpPr>
        <p:spPr>
          <a:xfrm>
            <a:off x="9509760" y="5157216"/>
            <a:ext cx="1920240" cy="640080"/>
          </a:xfrm>
          <a:prstGeom prst="rect">
            <a:avLst/>
          </a:prstGeom>
          <a:noFill/>
          <a:ln/>
        </p:spPr>
        <p:txBody>
          <a:bodyPr wrap="square" lIns="0" tIns="0" rIns="0" bIns="0" rtlCol="0" anchor="ctr"/>
          <a:lstStyle/>
          <a:p>
            <a:pPr indent="0" marL="0">
              <a:buNone/>
            </a:pPr>
            <a:r>
              <a:rPr lang="en-US" sz="1400" dirty="0">
                <a:solidFill>
                  <a:schemeClr val="accent5"/>
                </a:solidFill>
              </a:rPr>
              <a:t>moved in 96 transfers</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What we tried: five checker designs, one model</a:t>
            </a:r>
            <a:endParaRPr lang="en-US" sz="3600" dirty="0"/>
          </a:p>
        </p:txBody>
      </p:sp>
      <p:sp>
        <p:nvSpPr>
          <p:cNvPr id="3" name="Design card v1"/>
          <p:cNvSpPr/>
          <p:nvPr/>
        </p:nvSpPr>
        <p:spPr>
          <a:xfrm>
            <a:off x="548640" y="1463040"/>
            <a:ext cx="2084832" cy="3520440"/>
          </a:xfrm>
          <a:prstGeom prst="roundRect">
            <a:avLst>
              <a:gd name="adj" fmla="val 3509"/>
            </a:avLst>
          </a:prstGeom>
          <a:solidFill>
            <a:schemeClr val="bg2"/>
          </a:solidFill>
          <a:ln w="12700">
            <a:solidFill>
              <a:schemeClr val="bg2"/>
            </a:solidFill>
            <a:prstDash val="solid"/>
          </a:ln>
        </p:spPr>
      </p:sp>
      <p:sp>
        <p:nvSpPr>
          <p:cNvPr id="4" name="Badge v1"/>
          <p:cNvSpPr/>
          <p:nvPr/>
        </p:nvSpPr>
        <p:spPr>
          <a:xfrm>
            <a:off x="731520" y="1645920"/>
            <a:ext cx="640080" cy="640080"/>
          </a:xfrm>
          <a:prstGeom prst="ellipse">
            <a:avLst/>
          </a:prstGeom>
          <a:solidFill>
            <a:schemeClr val="accent4"/>
          </a:solidFill>
          <a:ln w="12700">
            <a:solidFill>
              <a:schemeClr val="accent4"/>
            </a:solidFill>
            <a:prstDash val="solid"/>
          </a:ln>
        </p:spPr>
      </p:sp>
      <p:sp>
        <p:nvSpPr>
          <p:cNvPr id="5" name="Badge text v1"/>
          <p:cNvSpPr txBox="1"/>
          <p:nvPr/>
        </p:nvSpPr>
        <p:spPr>
          <a:xfrm>
            <a:off x="731520" y="1645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v1</a:t>
            </a:r>
            <a:endParaRPr lang="en-US" sz="1800" dirty="0"/>
          </a:p>
        </p:txBody>
      </p:sp>
      <p:sp>
        <p:nvSpPr>
          <p:cNvPr id="6" name="Shown v1"/>
          <p:cNvSpPr txBox="1"/>
          <p:nvPr/>
        </p:nvSpPr>
        <p:spPr>
          <a:xfrm>
            <a:off x="731520" y="2423160"/>
            <a:ext cx="1737360" cy="914400"/>
          </a:xfrm>
          <a:prstGeom prst="rect">
            <a:avLst/>
          </a:prstGeom>
          <a:noFill/>
          <a:ln/>
        </p:spPr>
        <p:txBody>
          <a:bodyPr wrap="square" lIns="0" tIns="0" rIns="0" bIns="0" rtlCol="0" anchor="t"/>
          <a:lstStyle/>
          <a:p>
            <a:pPr indent="0" marL="0">
              <a:buNone/>
            </a:pPr>
            <a:r>
              <a:rPr lang="en-US" sz="1500" b="1" dirty="0">
                <a:solidFill>
                  <a:schemeClr val="tx1"/>
                </a:solidFill>
              </a:rPr>
              <a:t>Raw profile numbers</a:t>
            </a:r>
            <a:endParaRPr lang="en-US" sz="1500" dirty="0"/>
          </a:p>
        </p:txBody>
      </p:sp>
      <p:sp>
        <p:nvSpPr>
          <p:cNvPr id="7" name="Time v1"/>
          <p:cNvSpPr txBox="1"/>
          <p:nvPr/>
        </p:nvSpPr>
        <p:spPr>
          <a:xfrm>
            <a:off x="731520" y="3383280"/>
            <a:ext cx="1737360" cy="457200"/>
          </a:xfrm>
          <a:prstGeom prst="rect">
            <a:avLst/>
          </a:prstGeom>
          <a:noFill/>
          <a:ln/>
        </p:spPr>
        <p:txBody>
          <a:bodyPr wrap="square" lIns="0" tIns="0" rIns="0" bIns="0" rtlCol="0" anchor="t"/>
          <a:lstStyle/>
          <a:p>
            <a:pPr indent="0" marL="0">
              <a:buNone/>
            </a:pPr>
            <a:r>
              <a:rPr lang="en-US" sz="2400" b="1" dirty="0">
                <a:solidFill>
                  <a:schemeClr val="accent4"/>
                </a:solidFill>
                <a:latin typeface="Cambria" pitchFamily="34" charset="0"/>
                <a:ea typeface="Cambria" pitchFamily="34" charset="-122"/>
                <a:cs typeface="Cambria" pitchFamily="34" charset="-120"/>
              </a:rPr>
              <a:t>2,285 µs</a:t>
            </a:r>
            <a:endParaRPr lang="en-US" sz="2400" dirty="0"/>
          </a:p>
        </p:txBody>
      </p:sp>
      <p:sp>
        <p:nvSpPr>
          <p:cNvPr id="8" name="Time label v1"/>
          <p:cNvSpPr txBox="1"/>
          <p:nvPr/>
        </p:nvSpPr>
        <p:spPr>
          <a:xfrm>
            <a:off x="731520" y="3822192"/>
            <a:ext cx="1737360" cy="274320"/>
          </a:xfrm>
          <a:prstGeom prst="rect">
            <a:avLst/>
          </a:prstGeom>
          <a:noFill/>
          <a:ln/>
        </p:spPr>
        <p:txBody>
          <a:bodyPr wrap="square" lIns="0" tIns="0" rIns="0" bIns="0" rtlCol="0" anchor="t"/>
          <a:lstStyle/>
          <a:p>
            <a:pPr indent="0" marL="0">
              <a:buNone/>
            </a:pPr>
            <a:r>
              <a:rPr lang="en-US" sz="1100" dirty="0">
                <a:solidFill>
                  <a:schemeClr val="tx2"/>
                </a:solidFill>
              </a:rPr>
              <a:t>median final time</a:t>
            </a:r>
            <a:endParaRPr lang="en-US" sz="1100" dirty="0"/>
          </a:p>
        </p:txBody>
      </p:sp>
      <p:sp>
        <p:nvSpPr>
          <p:cNvPr id="9" name="Wasted v1"/>
          <p:cNvSpPr txBox="1"/>
          <p:nvPr/>
        </p:nvSpPr>
        <p:spPr>
          <a:xfrm>
            <a:off x="731520" y="4160520"/>
            <a:ext cx="1737360" cy="365760"/>
          </a:xfrm>
          <a:prstGeom prst="rect">
            <a:avLst/>
          </a:prstGeom>
          <a:noFill/>
          <a:ln/>
        </p:spPr>
        <p:txBody>
          <a:bodyPr wrap="square" lIns="0" tIns="0" rIns="0" bIns="0" rtlCol="0" anchor="t"/>
          <a:lstStyle/>
          <a:p>
            <a:pPr indent="0" marL="0">
              <a:buNone/>
            </a:pPr>
            <a:r>
              <a:rPr lang="en-US" sz="1800" b="1" dirty="0">
                <a:solidFill>
                  <a:schemeClr val="tx1"/>
                </a:solidFill>
              </a:rPr>
              <a:t>66 of 100</a:t>
            </a:r>
            <a:endParaRPr lang="en-US" sz="1800" dirty="0"/>
          </a:p>
        </p:txBody>
      </p:sp>
      <p:sp>
        <p:nvSpPr>
          <p:cNvPr id="10" name="Wasted label v1"/>
          <p:cNvSpPr txBox="1"/>
          <p:nvPr/>
        </p:nvSpPr>
        <p:spPr>
          <a:xfrm>
            <a:off x="731520" y="4526280"/>
            <a:ext cx="1737360" cy="365760"/>
          </a:xfrm>
          <a:prstGeom prst="rect">
            <a:avLst/>
          </a:prstGeom>
          <a:noFill/>
          <a:ln/>
        </p:spPr>
        <p:txBody>
          <a:bodyPr wrap="square" lIns="0" tIns="0" rIns="0" bIns="0" rtlCol="0" anchor="t"/>
          <a:lstStyle/>
          <a:p>
            <a:pPr indent="0" marL="0">
              <a:buNone/>
            </a:pPr>
            <a:r>
              <a:rPr lang="en-US" sz="1100" dirty="0">
                <a:solidFill>
                  <a:schemeClr val="tx2"/>
                </a:solidFill>
              </a:rPr>
              <a:t>attempts with no measurement</a:t>
            </a:r>
            <a:endParaRPr lang="en-US" sz="1100" dirty="0"/>
          </a:p>
        </p:txBody>
      </p:sp>
      <p:sp>
        <p:nvSpPr>
          <p:cNvPr id="11" name="Design card v2"/>
          <p:cNvSpPr/>
          <p:nvPr/>
        </p:nvSpPr>
        <p:spPr>
          <a:xfrm>
            <a:off x="2779776" y="1463040"/>
            <a:ext cx="2084832" cy="3520440"/>
          </a:xfrm>
          <a:prstGeom prst="roundRect">
            <a:avLst>
              <a:gd name="adj" fmla="val 3509"/>
            </a:avLst>
          </a:prstGeom>
          <a:solidFill>
            <a:schemeClr val="bg2"/>
          </a:solidFill>
          <a:ln w="12700">
            <a:solidFill>
              <a:schemeClr val="bg2"/>
            </a:solidFill>
            <a:prstDash val="solid"/>
          </a:ln>
        </p:spPr>
      </p:sp>
      <p:sp>
        <p:nvSpPr>
          <p:cNvPr id="12" name="Badge v2"/>
          <p:cNvSpPr/>
          <p:nvPr/>
        </p:nvSpPr>
        <p:spPr>
          <a:xfrm>
            <a:off x="2962656" y="1645920"/>
            <a:ext cx="640080" cy="640080"/>
          </a:xfrm>
          <a:prstGeom prst="ellipse">
            <a:avLst/>
          </a:prstGeom>
          <a:solidFill>
            <a:schemeClr val="accent2"/>
          </a:solidFill>
          <a:ln w="12700">
            <a:solidFill>
              <a:schemeClr val="accent2"/>
            </a:solidFill>
            <a:prstDash val="solid"/>
          </a:ln>
        </p:spPr>
      </p:sp>
      <p:sp>
        <p:nvSpPr>
          <p:cNvPr id="13" name="Badge text v2"/>
          <p:cNvSpPr txBox="1"/>
          <p:nvPr/>
        </p:nvSpPr>
        <p:spPr>
          <a:xfrm>
            <a:off x="2962656" y="1645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v2</a:t>
            </a:r>
            <a:endParaRPr lang="en-US" sz="1800" dirty="0"/>
          </a:p>
        </p:txBody>
      </p:sp>
      <p:sp>
        <p:nvSpPr>
          <p:cNvPr id="14" name="Shown v2"/>
          <p:cNvSpPr txBox="1"/>
          <p:nvPr/>
        </p:nvSpPr>
        <p:spPr>
          <a:xfrm>
            <a:off x="2962656" y="2423160"/>
            <a:ext cx="1737360" cy="914400"/>
          </a:xfrm>
          <a:prstGeom prst="rect">
            <a:avLst/>
          </a:prstGeom>
          <a:noFill/>
          <a:ln/>
        </p:spPr>
        <p:txBody>
          <a:bodyPr wrap="square" lIns="0" tIns="0" rIns="0" bIns="0" rtlCol="0" anchor="t"/>
          <a:lstStyle/>
          <a:p>
            <a:pPr indent="0" marL="0">
              <a:buNone/>
            </a:pPr>
            <a:r>
              <a:rPr lang="en-US" sz="1500" b="1" dirty="0">
                <a:solidFill>
                  <a:schemeClr val="tx1"/>
                </a:solidFill>
              </a:rPr>
              <a:t>Comparisons worked out in code</a:t>
            </a:r>
            <a:endParaRPr lang="en-US" sz="1500" dirty="0"/>
          </a:p>
        </p:txBody>
      </p:sp>
      <p:sp>
        <p:nvSpPr>
          <p:cNvPr id="15" name="Time v2"/>
          <p:cNvSpPr txBox="1"/>
          <p:nvPr/>
        </p:nvSpPr>
        <p:spPr>
          <a:xfrm>
            <a:off x="2962656" y="3383280"/>
            <a:ext cx="1737360" cy="457200"/>
          </a:xfrm>
          <a:prstGeom prst="rect">
            <a:avLst/>
          </a:prstGeom>
          <a:noFill/>
          <a:ln/>
        </p:spPr>
        <p:txBody>
          <a:bodyPr wrap="square" lIns="0" tIns="0" rIns="0" bIns="0" rtlCol="0" anchor="t"/>
          <a:lstStyle/>
          <a:p>
            <a:pPr indent="0" marL="0">
              <a:buNone/>
            </a:pPr>
            <a:r>
              <a:rPr lang="en-US" sz="2400" b="1" dirty="0">
                <a:solidFill>
                  <a:schemeClr val="accent2"/>
                </a:solidFill>
                <a:latin typeface="Cambria" pitchFamily="34" charset="0"/>
                <a:ea typeface="Cambria" pitchFamily="34" charset="-122"/>
                <a:cs typeface="Cambria" pitchFamily="34" charset="-120"/>
              </a:rPr>
              <a:t>1,553 µs</a:t>
            </a:r>
            <a:endParaRPr lang="en-US" sz="2400" dirty="0"/>
          </a:p>
        </p:txBody>
      </p:sp>
      <p:sp>
        <p:nvSpPr>
          <p:cNvPr id="16" name="Time label v2"/>
          <p:cNvSpPr txBox="1"/>
          <p:nvPr/>
        </p:nvSpPr>
        <p:spPr>
          <a:xfrm>
            <a:off x="2962656" y="3822192"/>
            <a:ext cx="1737360" cy="274320"/>
          </a:xfrm>
          <a:prstGeom prst="rect">
            <a:avLst/>
          </a:prstGeom>
          <a:noFill/>
          <a:ln/>
        </p:spPr>
        <p:txBody>
          <a:bodyPr wrap="square" lIns="0" tIns="0" rIns="0" bIns="0" rtlCol="0" anchor="t"/>
          <a:lstStyle/>
          <a:p>
            <a:pPr indent="0" marL="0">
              <a:buNone/>
            </a:pPr>
            <a:r>
              <a:rPr lang="en-US" sz="1100" dirty="0">
                <a:solidFill>
                  <a:schemeClr val="tx2"/>
                </a:solidFill>
              </a:rPr>
              <a:t>median final time</a:t>
            </a:r>
            <a:endParaRPr lang="en-US" sz="1100" dirty="0"/>
          </a:p>
        </p:txBody>
      </p:sp>
      <p:sp>
        <p:nvSpPr>
          <p:cNvPr id="17" name="Wasted v2"/>
          <p:cNvSpPr txBox="1"/>
          <p:nvPr/>
        </p:nvSpPr>
        <p:spPr>
          <a:xfrm>
            <a:off x="2962656" y="4160520"/>
            <a:ext cx="1737360" cy="365760"/>
          </a:xfrm>
          <a:prstGeom prst="rect">
            <a:avLst/>
          </a:prstGeom>
          <a:noFill/>
          <a:ln/>
        </p:spPr>
        <p:txBody>
          <a:bodyPr wrap="square" lIns="0" tIns="0" rIns="0" bIns="0" rtlCol="0" anchor="t"/>
          <a:lstStyle/>
          <a:p>
            <a:pPr indent="0" marL="0">
              <a:buNone/>
            </a:pPr>
            <a:r>
              <a:rPr lang="en-US" sz="1800" b="1" dirty="0">
                <a:solidFill>
                  <a:schemeClr val="tx1"/>
                </a:solidFill>
              </a:rPr>
              <a:t>70 of 100</a:t>
            </a:r>
            <a:endParaRPr lang="en-US" sz="1800" dirty="0"/>
          </a:p>
        </p:txBody>
      </p:sp>
      <p:sp>
        <p:nvSpPr>
          <p:cNvPr id="18" name="Wasted label v2"/>
          <p:cNvSpPr txBox="1"/>
          <p:nvPr/>
        </p:nvSpPr>
        <p:spPr>
          <a:xfrm>
            <a:off x="2962656" y="4526280"/>
            <a:ext cx="1737360" cy="365760"/>
          </a:xfrm>
          <a:prstGeom prst="rect">
            <a:avLst/>
          </a:prstGeom>
          <a:noFill/>
          <a:ln/>
        </p:spPr>
        <p:txBody>
          <a:bodyPr wrap="square" lIns="0" tIns="0" rIns="0" bIns="0" rtlCol="0" anchor="t"/>
          <a:lstStyle/>
          <a:p>
            <a:pPr indent="0" marL="0">
              <a:buNone/>
            </a:pPr>
            <a:r>
              <a:rPr lang="en-US" sz="1100" dirty="0">
                <a:solidFill>
                  <a:schemeClr val="tx2"/>
                </a:solidFill>
              </a:rPr>
              <a:t>attempts with no measurement</a:t>
            </a:r>
            <a:endParaRPr lang="en-US" sz="1100" dirty="0"/>
          </a:p>
        </p:txBody>
      </p:sp>
      <p:sp>
        <p:nvSpPr>
          <p:cNvPr id="19" name="Design card v3"/>
          <p:cNvSpPr/>
          <p:nvPr/>
        </p:nvSpPr>
        <p:spPr>
          <a:xfrm>
            <a:off x="5010912" y="1463040"/>
            <a:ext cx="2084832" cy="3520440"/>
          </a:xfrm>
          <a:prstGeom prst="roundRect">
            <a:avLst>
              <a:gd name="adj" fmla="val 3509"/>
            </a:avLst>
          </a:prstGeom>
          <a:solidFill>
            <a:schemeClr val="bg2"/>
          </a:solidFill>
          <a:ln w="12700">
            <a:solidFill>
              <a:schemeClr val="bg2"/>
            </a:solidFill>
            <a:prstDash val="solid"/>
          </a:ln>
        </p:spPr>
      </p:sp>
      <p:sp>
        <p:nvSpPr>
          <p:cNvPr id="20" name="Badge v3"/>
          <p:cNvSpPr/>
          <p:nvPr/>
        </p:nvSpPr>
        <p:spPr>
          <a:xfrm>
            <a:off x="5193792" y="1645920"/>
            <a:ext cx="640080" cy="640080"/>
          </a:xfrm>
          <a:prstGeom prst="ellipse">
            <a:avLst/>
          </a:prstGeom>
          <a:solidFill>
            <a:schemeClr val="accent3"/>
          </a:solidFill>
          <a:ln w="12700">
            <a:solidFill>
              <a:schemeClr val="accent3"/>
            </a:solidFill>
            <a:prstDash val="solid"/>
          </a:ln>
        </p:spPr>
      </p:sp>
      <p:sp>
        <p:nvSpPr>
          <p:cNvPr id="21" name="Badge text v3"/>
          <p:cNvSpPr txBox="1"/>
          <p:nvPr/>
        </p:nvSpPr>
        <p:spPr>
          <a:xfrm>
            <a:off x="5193792" y="1645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v3</a:t>
            </a:r>
            <a:endParaRPr lang="en-US" sz="1800" dirty="0"/>
          </a:p>
        </p:txBody>
      </p:sp>
      <p:sp>
        <p:nvSpPr>
          <p:cNvPr id="22" name="Shown v3"/>
          <p:cNvSpPr txBox="1"/>
          <p:nvPr/>
        </p:nvSpPr>
        <p:spPr>
          <a:xfrm>
            <a:off x="5193792" y="2423160"/>
            <a:ext cx="1737360" cy="914400"/>
          </a:xfrm>
          <a:prstGeom prst="rect">
            <a:avLst/>
          </a:prstGeom>
          <a:noFill/>
          <a:ln/>
        </p:spPr>
        <p:txBody>
          <a:bodyPr wrap="square" lIns="0" tIns="0" rIns="0" bIns="0" rtlCol="0" anchor="t"/>
          <a:lstStyle/>
          <a:p>
            <a:pPr indent="0" marL="0">
              <a:buNone/>
            </a:pPr>
            <a:r>
              <a:rPr lang="en-US" sz="1500" b="1" dirty="0">
                <a:solidFill>
                  <a:schemeClr val="tx1"/>
                </a:solidFill>
              </a:rPr>
              <a:t>A menu of measured moves</a:t>
            </a:r>
            <a:endParaRPr lang="en-US" sz="1500" dirty="0"/>
          </a:p>
        </p:txBody>
      </p:sp>
      <p:sp>
        <p:nvSpPr>
          <p:cNvPr id="23" name="Time v3"/>
          <p:cNvSpPr txBox="1"/>
          <p:nvPr/>
        </p:nvSpPr>
        <p:spPr>
          <a:xfrm>
            <a:off x="5193792" y="3383280"/>
            <a:ext cx="1737360" cy="457200"/>
          </a:xfrm>
          <a:prstGeom prst="rect">
            <a:avLst/>
          </a:prstGeom>
          <a:noFill/>
          <a:ln/>
        </p:spPr>
        <p:txBody>
          <a:bodyPr wrap="square" lIns="0" tIns="0" rIns="0" bIns="0" rtlCol="0" anchor="t"/>
          <a:lstStyle/>
          <a:p>
            <a:pPr indent="0" marL="0">
              <a:buNone/>
            </a:pPr>
            <a:r>
              <a:rPr lang="en-US" sz="2400" b="1" dirty="0">
                <a:solidFill>
                  <a:schemeClr val="accent3"/>
                </a:solidFill>
                <a:latin typeface="Cambria" pitchFamily="34" charset="0"/>
                <a:ea typeface="Cambria" pitchFamily="34" charset="-122"/>
                <a:cs typeface="Cambria" pitchFamily="34" charset="-120"/>
              </a:rPr>
              <a:t>1,492 µs</a:t>
            </a:r>
            <a:endParaRPr lang="en-US" sz="2400" dirty="0"/>
          </a:p>
        </p:txBody>
      </p:sp>
      <p:sp>
        <p:nvSpPr>
          <p:cNvPr id="24" name="Time label v3"/>
          <p:cNvSpPr txBox="1"/>
          <p:nvPr/>
        </p:nvSpPr>
        <p:spPr>
          <a:xfrm>
            <a:off x="5193792" y="3822192"/>
            <a:ext cx="1737360" cy="274320"/>
          </a:xfrm>
          <a:prstGeom prst="rect">
            <a:avLst/>
          </a:prstGeom>
          <a:noFill/>
          <a:ln/>
        </p:spPr>
        <p:txBody>
          <a:bodyPr wrap="square" lIns="0" tIns="0" rIns="0" bIns="0" rtlCol="0" anchor="t"/>
          <a:lstStyle/>
          <a:p>
            <a:pPr indent="0" marL="0">
              <a:buNone/>
            </a:pPr>
            <a:r>
              <a:rPr lang="en-US" sz="1100" dirty="0">
                <a:solidFill>
                  <a:schemeClr val="tx2"/>
                </a:solidFill>
              </a:rPr>
              <a:t>median final time</a:t>
            </a:r>
            <a:endParaRPr lang="en-US" sz="1100" dirty="0"/>
          </a:p>
        </p:txBody>
      </p:sp>
      <p:sp>
        <p:nvSpPr>
          <p:cNvPr id="25" name="Wasted v3"/>
          <p:cNvSpPr txBox="1"/>
          <p:nvPr/>
        </p:nvSpPr>
        <p:spPr>
          <a:xfrm>
            <a:off x="5193792" y="4160520"/>
            <a:ext cx="1737360" cy="365760"/>
          </a:xfrm>
          <a:prstGeom prst="rect">
            <a:avLst/>
          </a:prstGeom>
          <a:noFill/>
          <a:ln/>
        </p:spPr>
        <p:txBody>
          <a:bodyPr wrap="square" lIns="0" tIns="0" rIns="0" bIns="0" rtlCol="0" anchor="t"/>
          <a:lstStyle/>
          <a:p>
            <a:pPr indent="0" marL="0">
              <a:buNone/>
            </a:pPr>
            <a:r>
              <a:rPr lang="en-US" sz="1800" b="1" dirty="0">
                <a:solidFill>
                  <a:schemeClr val="tx1"/>
                </a:solidFill>
              </a:rPr>
              <a:t>25 of 100</a:t>
            </a:r>
            <a:endParaRPr lang="en-US" sz="1800" dirty="0"/>
          </a:p>
        </p:txBody>
      </p:sp>
      <p:sp>
        <p:nvSpPr>
          <p:cNvPr id="26" name="Wasted label v3"/>
          <p:cNvSpPr txBox="1"/>
          <p:nvPr/>
        </p:nvSpPr>
        <p:spPr>
          <a:xfrm>
            <a:off x="5193792" y="4526280"/>
            <a:ext cx="1737360" cy="365760"/>
          </a:xfrm>
          <a:prstGeom prst="rect">
            <a:avLst/>
          </a:prstGeom>
          <a:noFill/>
          <a:ln/>
        </p:spPr>
        <p:txBody>
          <a:bodyPr wrap="square" lIns="0" tIns="0" rIns="0" bIns="0" rtlCol="0" anchor="t"/>
          <a:lstStyle/>
          <a:p>
            <a:pPr indent="0" marL="0">
              <a:buNone/>
            </a:pPr>
            <a:r>
              <a:rPr lang="en-US" sz="1100" dirty="0">
                <a:solidFill>
                  <a:schemeClr val="tx2"/>
                </a:solidFill>
              </a:rPr>
              <a:t>attempts with no measurement</a:t>
            </a:r>
            <a:endParaRPr lang="en-US" sz="1100" dirty="0"/>
          </a:p>
        </p:txBody>
      </p:sp>
      <p:sp>
        <p:nvSpPr>
          <p:cNvPr id="27" name="Design card v4"/>
          <p:cNvSpPr/>
          <p:nvPr/>
        </p:nvSpPr>
        <p:spPr>
          <a:xfrm>
            <a:off x="7242048" y="1463040"/>
            <a:ext cx="2084832" cy="3520440"/>
          </a:xfrm>
          <a:prstGeom prst="roundRect">
            <a:avLst>
              <a:gd name="adj" fmla="val 3509"/>
            </a:avLst>
          </a:prstGeom>
          <a:solidFill>
            <a:schemeClr val="bg2"/>
          </a:solidFill>
          <a:ln w="12700">
            <a:solidFill>
              <a:schemeClr val="bg2"/>
            </a:solidFill>
            <a:prstDash val="solid"/>
          </a:ln>
        </p:spPr>
      </p:sp>
      <p:sp>
        <p:nvSpPr>
          <p:cNvPr id="28" name="Badge v4"/>
          <p:cNvSpPr/>
          <p:nvPr/>
        </p:nvSpPr>
        <p:spPr>
          <a:xfrm>
            <a:off x="7424928" y="1645920"/>
            <a:ext cx="640080" cy="640080"/>
          </a:xfrm>
          <a:prstGeom prst="ellipse">
            <a:avLst/>
          </a:prstGeom>
          <a:solidFill>
            <a:schemeClr val="accent1"/>
          </a:solidFill>
          <a:ln w="12700">
            <a:solidFill>
              <a:schemeClr val="accent1"/>
            </a:solidFill>
            <a:prstDash val="solid"/>
          </a:ln>
        </p:spPr>
      </p:sp>
      <p:sp>
        <p:nvSpPr>
          <p:cNvPr id="29" name="Badge text v4"/>
          <p:cNvSpPr txBox="1"/>
          <p:nvPr/>
        </p:nvSpPr>
        <p:spPr>
          <a:xfrm>
            <a:off x="7424928" y="1645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v4</a:t>
            </a:r>
            <a:endParaRPr lang="en-US" sz="1800" dirty="0"/>
          </a:p>
        </p:txBody>
      </p:sp>
      <p:sp>
        <p:nvSpPr>
          <p:cNvPr id="30" name="Shown v4"/>
          <p:cNvSpPr txBox="1"/>
          <p:nvPr/>
        </p:nvSpPr>
        <p:spPr>
          <a:xfrm>
            <a:off x="7424928" y="2423160"/>
            <a:ext cx="1737360" cy="914400"/>
          </a:xfrm>
          <a:prstGeom prst="rect">
            <a:avLst/>
          </a:prstGeom>
          <a:noFill/>
          <a:ln/>
        </p:spPr>
        <p:txBody>
          <a:bodyPr wrap="square" lIns="0" tIns="0" rIns="0" bIns="0" rtlCol="0" anchor="t"/>
          <a:lstStyle/>
          <a:p>
            <a:pPr indent="0" marL="0">
              <a:buNone/>
            </a:pPr>
            <a:r>
              <a:rPr lang="en-US" sz="1500" b="1" dirty="0">
                <a:solidFill>
                  <a:schemeClr val="tx1"/>
                </a:solidFill>
              </a:rPr>
              <a:t>v3, and the edit is checked first</a:t>
            </a:r>
            <a:endParaRPr lang="en-US" sz="1500" dirty="0"/>
          </a:p>
        </p:txBody>
      </p:sp>
      <p:sp>
        <p:nvSpPr>
          <p:cNvPr id="31" name="Time v4"/>
          <p:cNvSpPr txBox="1"/>
          <p:nvPr/>
        </p:nvSpPr>
        <p:spPr>
          <a:xfrm>
            <a:off x="7424928" y="3383280"/>
            <a:ext cx="173736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1,495 µs</a:t>
            </a:r>
            <a:endParaRPr lang="en-US" sz="2400" dirty="0"/>
          </a:p>
        </p:txBody>
      </p:sp>
      <p:sp>
        <p:nvSpPr>
          <p:cNvPr id="32" name="Time label v4"/>
          <p:cNvSpPr txBox="1"/>
          <p:nvPr/>
        </p:nvSpPr>
        <p:spPr>
          <a:xfrm>
            <a:off x="7424928" y="3822192"/>
            <a:ext cx="1737360" cy="274320"/>
          </a:xfrm>
          <a:prstGeom prst="rect">
            <a:avLst/>
          </a:prstGeom>
          <a:noFill/>
          <a:ln/>
        </p:spPr>
        <p:txBody>
          <a:bodyPr wrap="square" lIns="0" tIns="0" rIns="0" bIns="0" rtlCol="0" anchor="t"/>
          <a:lstStyle/>
          <a:p>
            <a:pPr indent="0" marL="0">
              <a:buNone/>
            </a:pPr>
            <a:r>
              <a:rPr lang="en-US" sz="1100" dirty="0">
                <a:solidFill>
                  <a:schemeClr val="tx2"/>
                </a:solidFill>
              </a:rPr>
              <a:t>median final time</a:t>
            </a:r>
            <a:endParaRPr lang="en-US" sz="1100" dirty="0"/>
          </a:p>
        </p:txBody>
      </p:sp>
      <p:sp>
        <p:nvSpPr>
          <p:cNvPr id="33" name="Wasted v4"/>
          <p:cNvSpPr txBox="1"/>
          <p:nvPr/>
        </p:nvSpPr>
        <p:spPr>
          <a:xfrm>
            <a:off x="7424928" y="4160520"/>
            <a:ext cx="1737360" cy="365760"/>
          </a:xfrm>
          <a:prstGeom prst="rect">
            <a:avLst/>
          </a:prstGeom>
          <a:noFill/>
          <a:ln/>
        </p:spPr>
        <p:txBody>
          <a:bodyPr wrap="square" lIns="0" tIns="0" rIns="0" bIns="0" rtlCol="0" anchor="t"/>
          <a:lstStyle/>
          <a:p>
            <a:pPr indent="0" marL="0">
              <a:buNone/>
            </a:pPr>
            <a:r>
              <a:rPr lang="en-US" sz="1800" b="1" dirty="0">
                <a:solidFill>
                  <a:schemeClr val="tx1"/>
                </a:solidFill>
              </a:rPr>
              <a:t>2 of 100</a:t>
            </a:r>
            <a:endParaRPr lang="en-US" sz="1800" dirty="0"/>
          </a:p>
        </p:txBody>
      </p:sp>
      <p:sp>
        <p:nvSpPr>
          <p:cNvPr id="34" name="Wasted label v4"/>
          <p:cNvSpPr txBox="1"/>
          <p:nvPr/>
        </p:nvSpPr>
        <p:spPr>
          <a:xfrm>
            <a:off x="7424928" y="4526280"/>
            <a:ext cx="1737360" cy="365760"/>
          </a:xfrm>
          <a:prstGeom prst="rect">
            <a:avLst/>
          </a:prstGeom>
          <a:noFill/>
          <a:ln/>
        </p:spPr>
        <p:txBody>
          <a:bodyPr wrap="square" lIns="0" tIns="0" rIns="0" bIns="0" rtlCol="0" anchor="t"/>
          <a:lstStyle/>
          <a:p>
            <a:pPr indent="0" marL="0">
              <a:buNone/>
            </a:pPr>
            <a:r>
              <a:rPr lang="en-US" sz="1100" dirty="0">
                <a:solidFill>
                  <a:schemeClr val="tx2"/>
                </a:solidFill>
              </a:rPr>
              <a:t>attempts with no measurement</a:t>
            </a:r>
            <a:endParaRPr lang="en-US" sz="1100" dirty="0"/>
          </a:p>
        </p:txBody>
      </p:sp>
      <p:sp>
        <p:nvSpPr>
          <p:cNvPr id="35" name="Design card v5"/>
          <p:cNvSpPr/>
          <p:nvPr/>
        </p:nvSpPr>
        <p:spPr>
          <a:xfrm>
            <a:off x="9473184" y="1463040"/>
            <a:ext cx="2084832" cy="3520440"/>
          </a:xfrm>
          <a:prstGeom prst="roundRect">
            <a:avLst>
              <a:gd name="adj" fmla="val 3509"/>
            </a:avLst>
          </a:prstGeom>
          <a:solidFill>
            <a:schemeClr val="bg2"/>
          </a:solidFill>
          <a:ln w="12700">
            <a:solidFill>
              <a:schemeClr val="bg2"/>
            </a:solidFill>
            <a:prstDash val="solid"/>
          </a:ln>
        </p:spPr>
      </p:sp>
      <p:sp>
        <p:nvSpPr>
          <p:cNvPr id="36" name="Badge v5"/>
          <p:cNvSpPr/>
          <p:nvPr/>
        </p:nvSpPr>
        <p:spPr>
          <a:xfrm>
            <a:off x="9656064" y="1645920"/>
            <a:ext cx="640080" cy="640080"/>
          </a:xfrm>
          <a:prstGeom prst="ellipse">
            <a:avLst/>
          </a:prstGeom>
          <a:solidFill>
            <a:schemeClr val="accent1"/>
          </a:solidFill>
          <a:ln w="12700">
            <a:solidFill>
              <a:schemeClr val="accent1"/>
            </a:solidFill>
            <a:prstDash val="solid"/>
          </a:ln>
        </p:spPr>
      </p:sp>
      <p:sp>
        <p:nvSpPr>
          <p:cNvPr id="37" name="Badge text v5"/>
          <p:cNvSpPr txBox="1"/>
          <p:nvPr/>
        </p:nvSpPr>
        <p:spPr>
          <a:xfrm>
            <a:off x="9656064" y="1645920"/>
            <a:ext cx="640080" cy="640080"/>
          </a:xfrm>
          <a:prstGeom prst="rect">
            <a:avLst/>
          </a:prstGeom>
          <a:noFill/>
          <a:ln/>
        </p:spPr>
        <p:txBody>
          <a:bodyPr wrap="square" lIns="0" tIns="0" rIns="0" bIns="0" rtlCol="0" anchor="ctr"/>
          <a:lstStyle/>
          <a:p>
            <a:pPr algn="ctr" indent="0" marL="0">
              <a:buNone/>
            </a:pPr>
            <a:r>
              <a:rPr lang="en-US" sz="1800" b="1" dirty="0">
                <a:solidFill>
                  <a:schemeClr val="bg1"/>
                </a:solidFill>
              </a:rPr>
              <a:t>v5</a:t>
            </a:r>
            <a:endParaRPr lang="en-US" sz="1800" dirty="0"/>
          </a:p>
        </p:txBody>
      </p:sp>
      <p:sp>
        <p:nvSpPr>
          <p:cNvPr id="38" name="Shown v5"/>
          <p:cNvSpPr txBox="1"/>
          <p:nvPr/>
        </p:nvSpPr>
        <p:spPr>
          <a:xfrm>
            <a:off x="9656064" y="2423160"/>
            <a:ext cx="1737360" cy="914400"/>
          </a:xfrm>
          <a:prstGeom prst="rect">
            <a:avLst/>
          </a:prstGeom>
          <a:noFill/>
          <a:ln/>
        </p:spPr>
        <p:txBody>
          <a:bodyPr wrap="square" lIns="0" tIns="0" rIns="0" bIns="0" rtlCol="0" anchor="t"/>
          <a:lstStyle/>
          <a:p>
            <a:pPr indent="0" marL="0">
              <a:buNone/>
            </a:pPr>
            <a:r>
              <a:rPr lang="en-US" sz="1500" b="1" dirty="0">
                <a:solidFill>
                  <a:schemeClr val="tx1"/>
                </a:solidFill>
              </a:rPr>
              <a:t>v4, with far moves; names its move</a:t>
            </a:r>
            <a:endParaRPr lang="en-US" sz="1500" dirty="0"/>
          </a:p>
        </p:txBody>
      </p:sp>
      <p:sp>
        <p:nvSpPr>
          <p:cNvPr id="39" name="Time v5"/>
          <p:cNvSpPr txBox="1"/>
          <p:nvPr/>
        </p:nvSpPr>
        <p:spPr>
          <a:xfrm>
            <a:off x="9656064" y="3383280"/>
            <a:ext cx="1737360" cy="457200"/>
          </a:xfrm>
          <a:prstGeom prst="rect">
            <a:avLst/>
          </a:prstGeom>
          <a:noFill/>
          <a:ln/>
        </p:spPr>
        <p:txBody>
          <a:bodyPr wrap="square" lIns="0" tIns="0" rIns="0" bIns="0" rtlCol="0" anchor="t"/>
          <a:lstStyle/>
          <a:p>
            <a:pPr indent="0" marL="0">
              <a:buNone/>
            </a:pPr>
            <a:r>
              <a:rPr lang="en-US" sz="2400" b="1" dirty="0">
                <a:solidFill>
                  <a:schemeClr val="accent1"/>
                </a:solidFill>
                <a:latin typeface="Cambria" pitchFamily="34" charset="0"/>
                <a:ea typeface="Cambria" pitchFamily="34" charset="-122"/>
                <a:cs typeface="Cambria" pitchFamily="34" charset="-120"/>
              </a:rPr>
              <a:t>1,494 µs</a:t>
            </a:r>
            <a:endParaRPr lang="en-US" sz="2400" dirty="0"/>
          </a:p>
        </p:txBody>
      </p:sp>
      <p:sp>
        <p:nvSpPr>
          <p:cNvPr id="40" name="Time label v5"/>
          <p:cNvSpPr txBox="1"/>
          <p:nvPr/>
        </p:nvSpPr>
        <p:spPr>
          <a:xfrm>
            <a:off x="9656064" y="3822192"/>
            <a:ext cx="1737360" cy="274320"/>
          </a:xfrm>
          <a:prstGeom prst="rect">
            <a:avLst/>
          </a:prstGeom>
          <a:noFill/>
          <a:ln/>
        </p:spPr>
        <p:txBody>
          <a:bodyPr wrap="square" lIns="0" tIns="0" rIns="0" bIns="0" rtlCol="0" anchor="t"/>
          <a:lstStyle/>
          <a:p>
            <a:pPr indent="0" marL="0">
              <a:buNone/>
            </a:pPr>
            <a:r>
              <a:rPr lang="en-US" sz="1100" dirty="0">
                <a:solidFill>
                  <a:schemeClr val="tx2"/>
                </a:solidFill>
              </a:rPr>
              <a:t>median final time</a:t>
            </a:r>
            <a:endParaRPr lang="en-US" sz="1100" dirty="0"/>
          </a:p>
        </p:txBody>
      </p:sp>
      <p:sp>
        <p:nvSpPr>
          <p:cNvPr id="41" name="Wasted v5"/>
          <p:cNvSpPr txBox="1"/>
          <p:nvPr/>
        </p:nvSpPr>
        <p:spPr>
          <a:xfrm>
            <a:off x="9656064" y="4160520"/>
            <a:ext cx="1737360" cy="365760"/>
          </a:xfrm>
          <a:prstGeom prst="rect">
            <a:avLst/>
          </a:prstGeom>
          <a:noFill/>
          <a:ln/>
        </p:spPr>
        <p:txBody>
          <a:bodyPr wrap="square" lIns="0" tIns="0" rIns="0" bIns="0" rtlCol="0" anchor="t"/>
          <a:lstStyle/>
          <a:p>
            <a:pPr indent="0" marL="0">
              <a:buNone/>
            </a:pPr>
            <a:r>
              <a:rPr lang="en-US" sz="1800" b="1" dirty="0">
                <a:solidFill>
                  <a:schemeClr val="tx1"/>
                </a:solidFill>
              </a:rPr>
              <a:t>0 of 100</a:t>
            </a:r>
            <a:endParaRPr lang="en-US" sz="1800" dirty="0"/>
          </a:p>
        </p:txBody>
      </p:sp>
      <p:sp>
        <p:nvSpPr>
          <p:cNvPr id="42" name="Wasted label v5"/>
          <p:cNvSpPr txBox="1"/>
          <p:nvPr/>
        </p:nvSpPr>
        <p:spPr>
          <a:xfrm>
            <a:off x="9656064" y="4526280"/>
            <a:ext cx="1737360" cy="365760"/>
          </a:xfrm>
          <a:prstGeom prst="rect">
            <a:avLst/>
          </a:prstGeom>
          <a:noFill/>
          <a:ln/>
        </p:spPr>
        <p:txBody>
          <a:bodyPr wrap="square" lIns="0" tIns="0" rIns="0" bIns="0" rtlCol="0" anchor="t"/>
          <a:lstStyle/>
          <a:p>
            <a:pPr indent="0" marL="0">
              <a:buNone/>
            </a:pPr>
            <a:r>
              <a:rPr lang="en-US" sz="1100" dirty="0">
                <a:solidFill>
                  <a:schemeClr val="tx2"/>
                </a:solidFill>
              </a:rPr>
              <a:t>attempts with no measurement</a:t>
            </a:r>
            <a:endParaRPr lang="en-US" sz="1100" dirty="0"/>
          </a:p>
        </p:txBody>
      </p:sp>
      <p:sp>
        <p:nvSpPr>
          <p:cNvPr id="43" name="Design caption"/>
          <p:cNvSpPr txBox="1"/>
          <p:nvPr/>
        </p:nvSpPr>
        <p:spPr>
          <a:xfrm>
            <a:off x="548640" y="5257800"/>
            <a:ext cx="11064240" cy="731520"/>
          </a:xfrm>
          <a:prstGeom prst="rect">
            <a:avLst/>
          </a:prstGeom>
          <a:noFill/>
          <a:ln/>
        </p:spPr>
        <p:txBody>
          <a:bodyPr wrap="square" lIns="0" tIns="0" rIns="0" bIns="0" rtlCol="0" anchor="t"/>
          <a:lstStyle/>
          <a:p>
            <a:pPr indent="0" marL="0">
              <a:buNone/>
            </a:pPr>
            <a:r>
              <a:rPr lang="en-US" sz="1500" dirty="0">
                <a:solidFill>
                  <a:schemeClr val="tx2"/>
                </a:solidFill>
              </a:rPr>
              <a:t>Each design fixes a failure we read in the previous one's log. The model, Qwen3-8B, never changed. Adapter-style shape, 10 starting points: best possible 1,361 µs, random guessing 1,467 µs.</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What we got: the checker decides, not the model</a:t>
            </a:r>
            <a:endParaRPr lang="en-US" sz="3600" dirty="0"/>
          </a:p>
        </p:txBody>
      </p:sp>
      <p:pic>
        <p:nvPicPr>
          <p:cNvPr id="3" name="Chart: best time against attempts, 30 starts" descr="Line chart of best kernel time found against attempts on the chip, for each approach, at the adapter shape">    </p:cNvPr>
          <p:cNvPicPr>
            <a:picLocks noChangeAspect="1"/>
          </p:cNvPicPr>
          <p:nvPr/>
        </p:nvPicPr>
        <p:blipFill>
          <a:blip r:embed="rId1"/>
          <a:stretch>
            <a:fillRect/>
          </a:stretch>
        </p:blipFill>
        <p:spPr>
          <a:xfrm>
            <a:off x="548640" y="1417320"/>
            <a:ext cx="6766560" cy="4663440"/>
          </a:xfrm>
          <a:prstGeom prst="rect">
            <a:avLst/>
          </a:prstGeom>
        </p:spPr>
      </p:pic>
      <p:sp>
        <p:nvSpPr>
          <p:cNvPr id="4" name="Result card 1"/>
          <p:cNvSpPr/>
          <p:nvPr/>
        </p:nvSpPr>
        <p:spPr>
          <a:xfrm>
            <a:off x="7589520" y="1417320"/>
            <a:ext cx="4023360" cy="1417320"/>
          </a:xfrm>
          <a:prstGeom prst="roundRect">
            <a:avLst>
              <a:gd name="adj" fmla="val 5161"/>
            </a:avLst>
          </a:prstGeom>
          <a:solidFill>
            <a:schemeClr val="bg2"/>
          </a:solidFill>
          <a:ln w="12700">
            <a:solidFill>
              <a:schemeClr val="bg2"/>
            </a:solidFill>
            <a:prstDash val="solid"/>
          </a:ln>
        </p:spPr>
      </p:sp>
      <p:sp>
        <p:nvSpPr>
          <p:cNvPr id="5" name="Result 1"/>
          <p:cNvSpPr txBox="1"/>
          <p:nvPr/>
        </p:nvSpPr>
        <p:spPr>
          <a:xfrm>
            <a:off x="7818120" y="1554480"/>
            <a:ext cx="3566160" cy="566928"/>
          </a:xfrm>
          <a:prstGeom prst="rect">
            <a:avLst/>
          </a:prstGeom>
          <a:noFill/>
          <a:ln/>
        </p:spPr>
        <p:txBody>
          <a:bodyPr wrap="square" lIns="0" tIns="0" rIns="0" bIns="0" rtlCol="0" anchor="ctr"/>
          <a:lstStyle/>
          <a:p>
            <a:pPr indent="0" marL="0">
              <a:buNone/>
            </a:pPr>
            <a:r>
              <a:rPr lang="en-US" sz="3000" b="1" dirty="0">
                <a:solidFill>
                  <a:schemeClr val="accent1"/>
                </a:solidFill>
                <a:latin typeface="Cambria" pitchFamily="34" charset="0"/>
                <a:ea typeface="Cambria" pitchFamily="34" charset="-122"/>
                <a:cs typeface="Cambria" pitchFamily="34" charset="-120"/>
              </a:rPr>
              <a:t>3 → 29 of 30</a:t>
            </a:r>
            <a:endParaRPr lang="en-US" sz="3000" dirty="0"/>
          </a:p>
        </p:txBody>
      </p:sp>
      <p:sp>
        <p:nvSpPr>
          <p:cNvPr id="6" name="Result label 1"/>
          <p:cNvSpPr txBox="1"/>
          <p:nvPr/>
        </p:nvSpPr>
        <p:spPr>
          <a:xfrm>
            <a:off x="7818120" y="2148840"/>
            <a:ext cx="3566160" cy="594360"/>
          </a:xfrm>
          <a:prstGeom prst="rect">
            <a:avLst/>
          </a:prstGeom>
          <a:noFill/>
          <a:ln/>
        </p:spPr>
        <p:txBody>
          <a:bodyPr wrap="square" lIns="0" tIns="0" rIns="0" bIns="0" rtlCol="0" anchor="t"/>
          <a:lstStyle/>
          <a:p>
            <a:pPr indent="0" marL="0">
              <a:buNone/>
            </a:pPr>
            <a:r>
              <a:rPr lang="en-US" sz="1300" dirty="0">
                <a:solidFill>
                  <a:schemeClr val="tx2"/>
                </a:solidFill>
              </a:rPr>
              <a:t>runs within 10% of the best, first checker to last, same model</a:t>
            </a:r>
            <a:endParaRPr lang="en-US" sz="1300" dirty="0"/>
          </a:p>
        </p:txBody>
      </p:sp>
      <p:sp>
        <p:nvSpPr>
          <p:cNvPr id="7" name="Result card 2"/>
          <p:cNvSpPr/>
          <p:nvPr/>
        </p:nvSpPr>
        <p:spPr>
          <a:xfrm>
            <a:off x="7589520" y="2990088"/>
            <a:ext cx="4023360" cy="1417320"/>
          </a:xfrm>
          <a:prstGeom prst="roundRect">
            <a:avLst>
              <a:gd name="adj" fmla="val 5161"/>
            </a:avLst>
          </a:prstGeom>
          <a:solidFill>
            <a:schemeClr val="bg2"/>
          </a:solidFill>
          <a:ln w="12700">
            <a:solidFill>
              <a:schemeClr val="bg2"/>
            </a:solidFill>
            <a:prstDash val="solid"/>
          </a:ln>
        </p:spPr>
      </p:sp>
      <p:sp>
        <p:nvSpPr>
          <p:cNvPr id="8" name="Result 2"/>
          <p:cNvSpPr txBox="1"/>
          <p:nvPr/>
        </p:nvSpPr>
        <p:spPr>
          <a:xfrm>
            <a:off x="7818120" y="3127248"/>
            <a:ext cx="3566160" cy="566928"/>
          </a:xfrm>
          <a:prstGeom prst="rect">
            <a:avLst/>
          </a:prstGeom>
          <a:noFill/>
          <a:ln/>
        </p:spPr>
        <p:txBody>
          <a:bodyPr wrap="square" lIns="0" tIns="0" rIns="0" bIns="0" rtlCol="0" anchor="ctr"/>
          <a:lstStyle/>
          <a:p>
            <a:pPr indent="0" marL="0">
              <a:buNone/>
            </a:pPr>
            <a:r>
              <a:rPr lang="en-US" sz="3000" b="1" dirty="0">
                <a:solidFill>
                  <a:schemeClr val="accent3"/>
                </a:solidFill>
                <a:latin typeface="Cambria" pitchFamily="34" charset="0"/>
                <a:ea typeface="Cambria" pitchFamily="34" charset="-122"/>
                <a:cs typeface="Cambria" pitchFamily="34" charset="-120"/>
              </a:rPr>
              <a:t>73%</a:t>
            </a:r>
            <a:endParaRPr lang="en-US" sz="3000" dirty="0"/>
          </a:p>
        </p:txBody>
      </p:sp>
      <p:sp>
        <p:nvSpPr>
          <p:cNvPr id="9" name="Result label 2"/>
          <p:cNvSpPr txBox="1"/>
          <p:nvPr/>
        </p:nvSpPr>
        <p:spPr>
          <a:xfrm>
            <a:off x="7818120" y="3721608"/>
            <a:ext cx="3566160" cy="594360"/>
          </a:xfrm>
          <a:prstGeom prst="rect">
            <a:avLst/>
          </a:prstGeom>
          <a:noFill/>
          <a:ln/>
        </p:spPr>
        <p:txBody>
          <a:bodyPr wrap="square" lIns="0" tIns="0" rIns="0" bIns="0" rtlCol="0" anchor="t"/>
          <a:lstStyle/>
          <a:p>
            <a:pPr indent="0" marL="0">
              <a:buNone/>
            </a:pPr>
            <a:r>
              <a:rPr lang="en-US" sz="1300" dirty="0">
                <a:solidFill>
                  <a:schemeClr val="tx2"/>
                </a:solidFill>
              </a:rPr>
              <a:t>of runs within 10% of the best for random guessing</a:t>
            </a:r>
            <a:endParaRPr lang="en-US" sz="1300" dirty="0"/>
          </a:p>
        </p:txBody>
      </p:sp>
      <p:sp>
        <p:nvSpPr>
          <p:cNvPr id="10" name="Result card 3"/>
          <p:cNvSpPr/>
          <p:nvPr/>
        </p:nvSpPr>
        <p:spPr>
          <a:xfrm>
            <a:off x="7589520" y="4562856"/>
            <a:ext cx="4023360" cy="1417320"/>
          </a:xfrm>
          <a:prstGeom prst="roundRect">
            <a:avLst>
              <a:gd name="adj" fmla="val 5161"/>
            </a:avLst>
          </a:prstGeom>
          <a:solidFill>
            <a:schemeClr val="bg2"/>
          </a:solidFill>
          <a:ln w="12700">
            <a:solidFill>
              <a:schemeClr val="bg2"/>
            </a:solidFill>
            <a:prstDash val="solid"/>
          </a:ln>
        </p:spPr>
      </p:sp>
      <p:sp>
        <p:nvSpPr>
          <p:cNvPr id="11" name="Result 3"/>
          <p:cNvSpPr txBox="1"/>
          <p:nvPr/>
        </p:nvSpPr>
        <p:spPr>
          <a:xfrm>
            <a:off x="7818120" y="4700016"/>
            <a:ext cx="3566160" cy="566928"/>
          </a:xfrm>
          <a:prstGeom prst="rect">
            <a:avLst/>
          </a:prstGeom>
          <a:noFill/>
          <a:ln/>
        </p:spPr>
        <p:txBody>
          <a:bodyPr wrap="square" lIns="0" tIns="0" rIns="0" bIns="0" rtlCol="0" anchor="ctr"/>
          <a:lstStyle/>
          <a:p>
            <a:pPr indent="0" marL="0">
              <a:buNone/>
            </a:pPr>
            <a:r>
              <a:rPr lang="en-US" sz="3000" b="1" dirty="0">
                <a:solidFill>
                  <a:schemeClr val="accent2"/>
                </a:solidFill>
                <a:latin typeface="Cambria" pitchFamily="34" charset="0"/>
                <a:ea typeface="Cambria" pitchFamily="34" charset="-122"/>
                <a:cs typeface="Cambria" pitchFamily="34" charset="-120"/>
              </a:rPr>
              <a:t>71% vs 50%</a:t>
            </a:r>
            <a:endParaRPr lang="en-US" sz="3000" dirty="0"/>
          </a:p>
        </p:txBody>
      </p:sp>
      <p:sp>
        <p:nvSpPr>
          <p:cNvPr id="12" name="Result label 3"/>
          <p:cNvSpPr txBox="1"/>
          <p:nvPr/>
        </p:nvSpPr>
        <p:spPr>
          <a:xfrm>
            <a:off x="7818120" y="5294376"/>
            <a:ext cx="3566160" cy="594360"/>
          </a:xfrm>
          <a:prstGeom prst="rect">
            <a:avLst/>
          </a:prstGeom>
          <a:noFill/>
          <a:ln/>
        </p:spPr>
        <p:txBody>
          <a:bodyPr wrap="square" lIns="0" tIns="0" rIns="0" bIns="0" rtlCol="0" anchor="t"/>
          <a:lstStyle/>
          <a:p>
            <a:pPr indent="0" marL="0">
              <a:buNone/>
            </a:pPr>
            <a:r>
              <a:rPr lang="en-US" sz="1300" dirty="0">
                <a:solidFill>
                  <a:schemeClr val="tx2"/>
                </a:solidFill>
              </a:rPr>
              <a:t>runs that find the best: a one-line rule on our menu against the 8B model (random 38%)</a:t>
            </a:r>
            <a:endParaRPr lang="en-US" sz="13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Tuned, the kernel is level with AWS's compiler</a:t>
            </a:r>
            <a:endParaRPr lang="en-US" sz="3600" dirty="0"/>
          </a:p>
        </p:txBody>
      </p:sp>
      <p:graphicFrame>
        <p:nvGraphicFramePr>
          <p:cNvPr id="3" name="Chart: 32-bit layer totals" descr=""/>
          <p:cNvGraphicFramePr/>
          <p:nvPr/>
        </p:nvGraphicFramePr>
        <p:xfrm>
          <a:off x="548640" y="1417320"/>
          <a:ext cx="5486400" cy="3931920"/>
        </p:xfrm>
        <a:graphic xmlns:a="http://schemas.openxmlformats.org/drawingml/2006/main">
          <a:graphicData uri="http://schemas.openxmlformats.org/drawingml/2006/chart">
            <c:chart xmlns:c="http://schemas.openxmlformats.org/drawingml/2006/chart" r:id="rId1"/>
          </a:graphicData>
        </a:graphic>
      </p:graphicFrame>
      <p:graphicFrame>
        <p:nvGraphicFramePr>
          <p:cNvPr id="4" name="Chart: 16-bit feed-forward block" descr=""/>
          <p:cNvGraphicFramePr/>
          <p:nvPr/>
        </p:nvGraphicFramePr>
        <p:xfrm>
          <a:off x="6172200" y="1417320"/>
          <a:ext cx="5486400" cy="3931920"/>
        </p:xfrm>
        <a:graphic xmlns:a="http://schemas.openxmlformats.org/drawingml/2006/main">
          <a:graphicData uri="http://schemas.openxmlformats.org/drawingml/2006/chart">
            <c:chart xmlns:c="http://schemas.openxmlformats.org/drawingml/2006/chart" r:id="rId2"/>
          </a:graphicData>
        </a:graphic>
      </p:graphicFrame>
      <p:sp>
        <p:nvSpPr>
          <p:cNvPr id="5" name="Chart caption"/>
          <p:cNvSpPr txBox="1"/>
          <p:nvPr/>
        </p:nvSpPr>
        <p:spPr>
          <a:xfrm>
            <a:off x="548640" y="5440680"/>
            <a:ext cx="11064240" cy="777240"/>
          </a:xfrm>
          <a:prstGeom prst="rect">
            <a:avLst/>
          </a:prstGeom>
          <a:noFill/>
          <a:ln/>
        </p:spPr>
        <p:txBody>
          <a:bodyPr wrap="square" lIns="0" tIns="0" rIns="0" bIns="0" rtlCol="0" anchor="t"/>
          <a:lstStyle/>
          <a:p>
            <a:pPr indent="0" marL="0">
              <a:buNone/>
            </a:pPr>
            <a:r>
              <a:rPr lang="en-US" sz="1400" dirty="0">
                <a:solidFill>
                  <a:schemeClr val="tx2"/>
                </a:solidFill>
              </a:rPr>
              <a:t>Left: sums of standalone kernel times, one loop run per layer shape. Right: a small model with random weights at Qwen3-8B's sizes; tuned bar is the median of five loop runs (2.86 to 2.89 ms). Level with the compiler at 32-bit, 4% to 5% behind at 16-bit.</a:t>
            </a:r>
            <a:endParaRPr lang="en-US" sz="14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p:nvPr>
            <p:ph idx="100" type="title" hasCustomPrompt="1"/>
          </p:nvPr>
        </p:nvSpPr>
        <p:spPr>
          <a:xfrm>
            <a:off x="548640" y="411480"/>
            <a:ext cx="11064240" cy="822960"/>
          </a:xfrm>
          <a:prstGeom prst="rect">
            <a:avLst/>
          </a:prstGeom>
          <a:noFill/>
          <a:ln/>
        </p:spPr>
        <p:txBody>
          <a:bodyPr wrap="square" lIns="0" tIns="0" rIns="0" bIns="0" rtlCol="0" anchor="ctr"/>
          <a:lstStyle/>
          <a:p>
            <a:pPr algn="l" indent="0" marL="0">
              <a:buNone/>
            </a:pPr>
            <a:r>
              <a:rPr lang="en-US" sz="3600" b="1" dirty="0">
                <a:solidFill>
                  <a:schemeClr val="tx1"/>
                </a:solidFill>
              </a:rPr>
              <a:t>What we do not claim, and what comes next</a:t>
            </a:r>
            <a:endParaRPr lang="en-US" sz="3600" dirty="0"/>
          </a:p>
        </p:txBody>
      </p:sp>
      <p:sp>
        <p:nvSpPr>
          <p:cNvPr id="3" name="Limits card"/>
          <p:cNvSpPr/>
          <p:nvPr/>
        </p:nvSpPr>
        <p:spPr>
          <a:xfrm>
            <a:off x="548640" y="1463040"/>
            <a:ext cx="6309360" cy="4023360"/>
          </a:xfrm>
          <a:prstGeom prst="roundRect">
            <a:avLst>
              <a:gd name="adj" fmla="val 1818"/>
            </a:avLst>
          </a:prstGeom>
          <a:solidFill>
            <a:schemeClr val="bg2"/>
          </a:solidFill>
          <a:ln w="12700">
            <a:solidFill>
              <a:schemeClr val="bg2"/>
            </a:solidFill>
            <a:prstDash val="solid"/>
          </a:ln>
        </p:spPr>
      </p:sp>
      <p:sp>
        <p:nvSpPr>
          <p:cNvPr id="4" name="Limits heading"/>
          <p:cNvSpPr txBox="1"/>
          <p:nvPr/>
        </p:nvSpPr>
        <p:spPr>
          <a:xfrm>
            <a:off x="822960" y="1645920"/>
            <a:ext cx="5760720" cy="457200"/>
          </a:xfrm>
          <a:prstGeom prst="rect">
            <a:avLst/>
          </a:prstGeom>
          <a:noFill/>
          <a:ln/>
        </p:spPr>
        <p:txBody>
          <a:bodyPr wrap="square" lIns="0" tIns="0" rIns="0" bIns="0" rtlCol="0" anchor="t"/>
          <a:lstStyle/>
          <a:p>
            <a:pPr indent="0" marL="0">
              <a:buNone/>
            </a:pPr>
            <a:r>
              <a:rPr lang="en-US" sz="2200" b="1" dirty="0">
                <a:solidFill>
                  <a:schemeClr val="accent4"/>
                </a:solidFill>
                <a:latin typeface="Cambria" pitchFamily="34" charset="0"/>
                <a:ea typeface="Cambria" pitchFamily="34" charset="-122"/>
                <a:cs typeface="Cambria" pitchFamily="34" charset="-120"/>
              </a:rPr>
              <a:t>Not claimed</a:t>
            </a:r>
            <a:endParaRPr lang="en-US" sz="2200" dirty="0"/>
          </a:p>
        </p:txBody>
      </p:sp>
      <p:sp>
        <p:nvSpPr>
          <p:cNvPr id="5" name="Limits list"/>
          <p:cNvSpPr txBox="1"/>
          <p:nvPr/>
        </p:nvSpPr>
        <p:spPr>
          <a:xfrm>
            <a:off x="960120" y="2240280"/>
            <a:ext cx="5669280" cy="3108960"/>
          </a:xfrm>
          <a:prstGeom prst="rect">
            <a:avLst/>
          </a:prstGeom>
          <a:noFill/>
          <a:ln/>
        </p:spPr>
        <p:txBody>
          <a:bodyPr wrap="square" lIns="0" tIns="0" rIns="0" bIns="0" rtlCol="0" anchor="t"/>
          <a:lstStyle/>
          <a:p>
            <a:pPr marL="342900" indent="-342900">
              <a:spcAft>
                <a:spcPts val="1000"/>
              </a:spcAft>
              <a:buSzPct val="100000"/>
              <a:buChar char="•"/>
            </a:pPr>
            <a:r>
              <a:rPr lang="en-US" sz="1800" dirty="0">
                <a:solidFill>
                  <a:schemeClr val="tx1"/>
                </a:solidFill>
              </a:rPr>
              <a:t>We do not beat AWS's compiler. Tuned, the kernel ties it at 32-bit and is 4% to 5% behind at 16-bit.</a:t>
            </a:r>
            <a:endParaRPr lang="en-US" sz="1800" dirty="0"/>
          </a:p>
          <a:p>
            <a:pPr marL="342900" indent="-342900">
              <a:spcAft>
                <a:spcPts val="1000"/>
              </a:spcAft>
              <a:buSzPct val="100000"/>
              <a:buChar char="•"/>
            </a:pPr>
            <a:r>
              <a:rPr lang="en-US" sz="1800" dirty="0">
                <a:solidFill>
                  <a:schemeClr val="tx1"/>
                </a:solidFill>
              </a:rPr>
              <a:t>The 8B model does not beat a one-line rule on the same menu.</a:t>
            </a:r>
            <a:endParaRPr lang="en-US" sz="1800" dirty="0"/>
          </a:p>
          <a:p>
            <a:pPr marL="342900" indent="-342900">
              <a:spcAft>
                <a:spcPts val="1000"/>
              </a:spcAft>
              <a:buSzPct val="100000"/>
              <a:buChar char="•"/>
            </a:pPr>
            <a:r>
              <a:rPr lang="en-US" sz="1800" dirty="0">
                <a:solidFill>
                  <a:schemeClr val="tx1"/>
                </a:solidFill>
              </a:rPr>
              <a:t>The loop chooses three numbers. It does not write kernel code.</a:t>
            </a:r>
            <a:endParaRPr lang="en-US" sz="1800" dirty="0"/>
          </a:p>
          <a:p>
            <a:pPr marL="342900" indent="-342900">
              <a:buSzPct val="100000"/>
              <a:buChar char="•"/>
            </a:pPr>
            <a:r>
              <a:rPr lang="en-US" sz="1800" dirty="0">
                <a:solidFill>
                  <a:schemeClr val="tx1"/>
                </a:solidFill>
              </a:rPr>
              <a:t>One operation tested: matmul, which nobody needs to hand-write.</a:t>
            </a:r>
            <a:endParaRPr lang="en-US" sz="1800" dirty="0"/>
          </a:p>
        </p:txBody>
      </p:sp>
      <p:sp>
        <p:nvSpPr>
          <p:cNvPr id="6" name="Next card"/>
          <p:cNvSpPr/>
          <p:nvPr/>
        </p:nvSpPr>
        <p:spPr>
          <a:xfrm>
            <a:off x="7132320" y="1463040"/>
            <a:ext cx="4480560" cy="4023360"/>
          </a:xfrm>
          <a:prstGeom prst="roundRect">
            <a:avLst>
              <a:gd name="adj" fmla="val 1818"/>
            </a:avLst>
          </a:prstGeom>
          <a:solidFill>
            <a:schemeClr val="tx1"/>
          </a:solidFill>
          <a:ln w="12700">
            <a:solidFill>
              <a:schemeClr val="tx1"/>
            </a:solidFill>
            <a:prstDash val="solid"/>
          </a:ln>
        </p:spPr>
      </p:sp>
      <p:sp>
        <p:nvSpPr>
          <p:cNvPr id="7" name="Next heading"/>
          <p:cNvSpPr txBox="1"/>
          <p:nvPr/>
        </p:nvSpPr>
        <p:spPr>
          <a:xfrm>
            <a:off x="7406640" y="1645920"/>
            <a:ext cx="3931920" cy="457200"/>
          </a:xfrm>
          <a:prstGeom prst="rect">
            <a:avLst/>
          </a:prstGeom>
          <a:noFill/>
          <a:ln/>
        </p:spPr>
        <p:txBody>
          <a:bodyPr wrap="square" lIns="0" tIns="0" rIns="0" bIns="0" rtlCol="0" anchor="t"/>
          <a:lstStyle/>
          <a:p>
            <a:pPr indent="0" marL="0">
              <a:buNone/>
            </a:pPr>
            <a:r>
              <a:rPr lang="en-US" sz="2200" b="1" dirty="0">
                <a:solidFill>
                  <a:schemeClr val="accent5"/>
                </a:solidFill>
                <a:latin typeface="Cambria" pitchFamily="34" charset="0"/>
                <a:ea typeface="Cambria" pitchFamily="34" charset="-122"/>
                <a:cs typeface="Cambria" pitchFamily="34" charset="-120"/>
              </a:rPr>
              <a:t>Next</a:t>
            </a:r>
            <a:endParaRPr lang="en-US" sz="2200" dirty="0"/>
          </a:p>
        </p:txBody>
      </p:sp>
      <p:sp>
        <p:nvSpPr>
          <p:cNvPr id="8" name="Next text"/>
          <p:cNvSpPr txBox="1"/>
          <p:nvPr/>
        </p:nvSpPr>
        <p:spPr>
          <a:xfrm>
            <a:off x="7406640" y="2194560"/>
            <a:ext cx="3931920" cy="1554480"/>
          </a:xfrm>
          <a:prstGeom prst="rect">
            <a:avLst/>
          </a:prstGeom>
          <a:noFill/>
          <a:ln/>
        </p:spPr>
        <p:txBody>
          <a:bodyPr wrap="square" lIns="0" tIns="0" rIns="0" bIns="0" rtlCol="0" anchor="t"/>
          <a:lstStyle/>
          <a:p>
            <a:pPr indent="0" marL="0">
              <a:buNone/>
            </a:pPr>
            <a:r>
              <a:rPr lang="en-US" sz="1800" dirty="0">
                <a:solidFill>
                  <a:schemeClr val="bg1"/>
                </a:solidFill>
              </a:rPr>
              <a:t>Point KernelTune at the kernels people do write by hand: fused attention, quantised multiplies, custom normalisation.</a:t>
            </a:r>
            <a:endParaRPr lang="en-US" sz="1800" dirty="0"/>
          </a:p>
        </p:txBody>
      </p:sp>
      <p:sp>
        <p:nvSpPr>
          <p:cNvPr id="9" name="Next requirements"/>
          <p:cNvSpPr txBox="1"/>
          <p:nvPr/>
        </p:nvSpPr>
        <p:spPr>
          <a:xfrm>
            <a:off x="7406640" y="3886200"/>
            <a:ext cx="3931920" cy="1371600"/>
          </a:xfrm>
          <a:prstGeom prst="rect">
            <a:avLst/>
          </a:prstGeom>
          <a:noFill/>
          <a:ln/>
        </p:spPr>
        <p:txBody>
          <a:bodyPr wrap="square" lIns="0" tIns="0" rIns="0" bIns="0" rtlCol="0" anchor="t"/>
          <a:lstStyle/>
          <a:p>
            <a:pPr indent="0" marL="0">
              <a:buNone/>
            </a:pPr>
            <a:r>
              <a:rPr lang="en-US" sz="1500" dirty="0">
                <a:solidFill>
                  <a:schemeClr val="accent5"/>
                </a:solidFill>
              </a:rPr>
              <a:t>It needs three things from any kernel: named settings, a reference answer, and the rule for which values are legal.</a:t>
            </a:r>
            <a:endParaRPr lang="en-US" sz="1500" dirty="0"/>
          </a:p>
        </p:txBody>
      </p:sp>
      <p:sp>
        <p:nvSpPr>
          <p:cNvPr id="25" name="Slide Number Placeholder 0"/>
          <p:cNvSpPr>
            <a:spLocks noGrp="1"/>
          </p:cNvSpPr>
          <p:nvPr>
            <p:ph type="sldNum" sz="quarter" idx="4294967295"/>
          </p:nvPr>
        </p:nvSpPr>
        <p:spPr>
          <a:xfrm>
            <a:off x="11155680" y="6355080"/>
            <a:ext cx="45720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B7A"/>
                </a:solidFill>
              </a:defRPr>
            </a:lvl1pPr>
          </a:lstStyle>
          <a:p>
            <a:pPr algn="r"/>
            <a:fld id="{F7021451-1387-4CA6-816F-3879F97B5CBC}" type="slidenum">
              <a:rPr b="0" lang="en-US"/>
              <a:t>9</a:t>
            </a:fld>
            <a:endParaRPr lang="en-US"/>
          </a:p>
        </p:txBody>
      </p:sp>
    </p:spTree>
  </p:cSld>
  <p:clrMapOvr>
    <a:masterClrMapping/>
  </p:clrMapOvr>
</p:sld>
</file>

<file path=ppt/theme/theme1.xml><?xml version="1.0" encoding="utf-8"?>
<a:theme xmlns:a="http://schemas.openxmlformats.org/drawingml/2006/main" name="KernelTune">
  <a:themeElements>
    <a:clrScheme name="KernelTune">
      <a:dk1>
        <a:srgbClr val="16212B"/>
      </a:dk1>
      <a:lt1>
        <a:srgbClr val="FFFFFF"/>
      </a:lt1>
      <a:dk2>
        <a:srgbClr val="3D4B57"/>
      </a:dk2>
      <a:lt2>
        <a:srgbClr val="EEF3F2"/>
      </a:lt2>
      <a:accent1>
        <a:srgbClr val="0B8F6A"/>
      </a:accent1>
      <a:accent2>
        <a:srgbClr val="D9822B"/>
      </a:accent2>
      <a:accent3>
        <a:srgbClr val="5B6B7A"/>
      </a:accent3>
      <a:accent4>
        <a:srgbClr val="B23A48"/>
      </a:accent4>
      <a:accent5>
        <a:srgbClr val="7FC8B2"/>
      </a:accent5>
      <a:accent6>
        <a:srgbClr val="F4D9B5"/>
      </a:accent6>
      <a:hlink>
        <a:srgbClr val="0B8F6A"/>
      </a:hlink>
      <a:folHlink>
        <a:srgbClr val="5B6B7A"/>
      </a:folHlink>
    </a:clrScheme>
    <a:fontScheme name="KernelTune">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9</Slides>
  <Notes>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9</vt:i4>
      </vt:variant>
    </vt:vector>
  </HeadingPairs>
  <TitlesOfParts>
    <vt:vector size="1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KernelTune</dc:title>
  <dc:subject>PptxGenJS Presentation</dc:subject>
  <dc:creator>Team Skywalker</dc:creator>
  <cp:lastModifiedBy>Team Skywalker</cp:lastModifiedBy>
  <cp:revision>1</cp:revision>
  <dcterms:created xsi:type="dcterms:W3CDTF">2026-10-10T22:46:08Z</dcterms:created>
  <dcterms:modified xsi:type="dcterms:W3CDTF">2026-10-10T22:46:08Z</dcterms:modified>
</cp:coreProperties>
</file>